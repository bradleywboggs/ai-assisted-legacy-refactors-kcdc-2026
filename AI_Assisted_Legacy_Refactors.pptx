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92" r:id="rId6"/>
    <p:sldId id="260" r:id="rId7"/>
    <p:sldId id="261" r:id="rId8"/>
    <p:sldId id="293" r:id="rId9"/>
    <p:sldId id="262" r:id="rId10"/>
    <p:sldId id="263" r:id="rId11"/>
    <p:sldId id="267" r:id="rId12"/>
    <p:sldId id="294" r:id="rId13"/>
    <p:sldId id="295" r:id="rId14"/>
    <p:sldId id="296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36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192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16260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 open follows: restore the self-accusation.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a company where I've done a lot of work over the last couple of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PagerDuty goes off on slow ingestion; queue depth in the tens of thousands. The logs say one of these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hotfix incantation. Never say the values. This is the piece of specification that lived in a person, not in the code — it comes back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9F514-6239-C4A0-2FF1-E6FEB5656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B89276-DB40-2C90-F513-75AA3320C2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259DFE-9702-7023-C9CC-C81D140C86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hotfix incantation. Never say the values. This is the piece of specification that lived in a person, not in the code — it comes back later.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CC7697-7FE0-3DE0-A30C-9E1470A705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8076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wasn't part of the effort. I've talked to two people who were.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According to the guy who was the team lead at the time. The engineer ranked the first; the manager ranked the second. The disagreement is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F6380-01F3-16E3-F176-E0F141363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A04798-4A43-1F09-2889-E87E985CFF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6C786F-64FF-21D3-A03B-54CB386C6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According to the guy who was the team lead at the time. The engineer ranked the first; the manager ranked the second. The disagreement is the evidence.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99F48E-2A62-7BA6-619D-57E77FEC2F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3258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APPROVED WORDING — do not tighten. Read it, then land on the word: approve. You can test without a spec; you cannot approve without one. Attribute out loud only: the current engineering manager.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reasons, and the third is the one that turns fear into a budget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people photograph. The years are doing argumentative work: 2004 and 2018 are what make 'reading was expensive back then' credible later. Pause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A4D59-198B-1BE9-E29C-1CE91E046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8489D2-EDDA-ADE0-C9C1-D3500ABEEE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495B7D-4C46-B2C0-12C2-C0247A999B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people photograph. The years are doing argumentative work: 2004 and 2018 are what make 'reading was expensive back then' credible later. Pause here.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AEC9AA-FAFF-34D3-EF81-40E61B08F4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7410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58F3E-868D-7028-898F-798AD4F94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794548-E07E-E87D-2BC6-DF8A605DC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57756F-6ECF-4257-9C88-CE589804B7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people photograph. The years are doing argumentative work: 2004 and 2018 are what make 'reading was expensive back then' credible later. Pause here.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FF01B-DEFC-B3C6-0857-01416C539F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4239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F4DD3-0262-7456-81CD-16F36BD5E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695D8E-EDB2-9E91-9555-41D70F1BE2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AD91AA-0976-97B2-E036-A924BC0664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people photograph. The years are doing argumentative work: 2004 and 2018 are what make 'reading was expensive back then' credible later. Pause here.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8CC1C5-F7C9-2A56-A0DF-529C3E4AAE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1264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Changes made without understanding lead to instability. Instability wakes us at 2am and can surface to the customer. Getting risk low is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and last showing. Same asset. Nobody was careless — the definition they were working from has an unresolved word in it. Decide in the dry run whether you talk over this or stay silent. Not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Webster. Say the source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Adapted from ISO/IEC/IEEE 29148:2018 — say that out loud; it is adapted, not quoted.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a greenfield app we're handed a definition of correct. In a legacy app the external spec has been stale for years, so getting to it is archaeology.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'Hyrum's Law' out loud and stop there. Usage quietly promotes your implementation into your interface. You will never have the list of who is standing on what.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Fowler's definition of refactoring. The canonical definition already has the answer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Which has a hole in it exactly where I need it solid. Don't narrate over the 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Anything watching the database sees every write; most are incidental. Anything downstream sees a handful, and those are the ones that matter. The exception is the behavior nobody is standing on because it's the thing they're complaining about — nobody depends on this app deadlocking.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Defined once, here. Same words every time it comes back — the repetition is what makes it portable. This is the understanding that is expensive to recover.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whole list at once. Say three. End on 48 and stop — that number is the handoff. Never say the magic-integer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Hermans, The Programmer's Brain, 2021. Three confusions: lack of knowledge, lack of information, lack of processing power. Mine was the third, with the second underneath it — a 464-line median is information that isn't in front of you. Do NOT say I didn't have an issue with the first two. Thirty seconds,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like determinism. LLMs are probabilistic. So how do you get high-quality code out of one — wrong question. I wasn't asking it to write production code. I was asking it to read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claim: planning, not tickets, not started. It is smaller than the room expects and saying so is the credibility play. The confidence brought the greenlight — not the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Feathers' term. What changed since 2004 is that we can prompt our way there. Q&amp;A backstop: a characterization test records everything the code does; the spec is the part somebody else is standing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new branch first. Step 2 is the first checkpoint and it is not optional — read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 is only as good as the data you give it. If you have no record of real inputs, getting one is your first step — happy to go into options in Q&amp;A. Where the tests and the business disagree you have probably found a bug, and probably one something else depends on. Note it; don't let it drive a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screen so the room can photograph it. One of the two things people actually take home. Stop talking and let them shoot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Callback, same words. This is what the suite and the spec document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Neutral wording on 02 — the probe has not been run. I'm going to let the agent execute these, but the agent's real value was in step 3, not step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which one happened, not which one you expected. If the probe is inconclusive, cut to one refactor plus the bugfix and delete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codebase is small and these changes are small — but I've used this at greater scale across much larger cross-cutting codebases. Is AI the silver bullet? No. It took the most expensive step in the canon and made it affordable.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WRITTEN. Do not improvise this on the day. The last slide is the one that gets photographed and quoted.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plus QR is the last thing on screen. No thank-you slide, no questions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6826895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33500" y="7350770"/>
            <a:ext cx="14668500" cy="1048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9143"/>
              </a:lnSpc>
              <a:buNone/>
            </a:pPr>
            <a:r>
              <a:rPr lang="en-US" sz="7800" kern="0" spc="-234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Assisted Legacy Refactors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1333500" y="8780264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Brad Boggs</a:t>
            </a:r>
            <a:endParaRPr lang="en-US" sz="3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4208413"/>
            <a:ext cx="17183100" cy="1068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0891"/>
              </a:lnSpc>
              <a:buNone/>
            </a:pPr>
            <a:r>
              <a:rPr lang="en-US" sz="7800" kern="0" spc="-234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application</a:t>
            </a:r>
            <a:endParaRPr lang="en-US" sz="7800" dirty="0"/>
          </a:p>
        </p:txBody>
      </p:sp>
      <p:sp>
        <p:nvSpPr>
          <p:cNvPr id="3" name="Text 1"/>
          <p:cNvSpPr/>
          <p:nvPr/>
        </p:nvSpPr>
        <p:spPr>
          <a:xfrm>
            <a:off x="1333500" y="5619601"/>
            <a:ext cx="13096875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epicenter of nearly every on-call incident.</a:t>
            </a:r>
            <a:endParaRPr lang="en-US" sz="3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3159026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33500" y="3606701"/>
            <a:ext cx="17183100" cy="696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405"/>
              </a:lnSpc>
              <a:buNone/>
            </a:pPr>
            <a:r>
              <a:rPr lang="en-US" sz="4800" kern="0" spc="-96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incident, three ways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333500" y="4798368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Lock-wait timeout — row contention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33500" y="5733604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error — an implicit data contract violated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333500" y="6668839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Timestamp gaps — slow queries</a:t>
            </a:r>
            <a:endParaRPr lang="en-US" sz="3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E24AE0-375B-DEE0-E645-911A4117E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6038" y="617220"/>
            <a:ext cx="14175924" cy="9052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F16028-7122-4BBC-EB4C-57CAA0D51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F6E1DB-7D49-5D16-49BB-95EF1EC29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6038" y="617220"/>
            <a:ext cx="14175924" cy="9052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740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4010471"/>
            <a:ext cx="14225588" cy="24946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0817"/>
              </a:lnSpc>
              <a:buNone/>
            </a:pPr>
            <a:r>
              <a:rPr lang="en-US" sz="9300" kern="0" spc="-279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rewrite was attempted. And aborted.</a:t>
            </a:r>
            <a:endParaRPr lang="en-US" sz="9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2870448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33500" y="3318123"/>
            <a:ext cx="17183100" cy="696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405"/>
              </a:lnSpc>
              <a:buNone/>
            </a:pPr>
            <a:r>
              <a:rPr lang="en-US" sz="4800" kern="0" spc="-96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blockers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333500" y="4509790"/>
            <a:ext cx="808863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7324"/>
              </a:lnSpc>
              <a:buNone/>
            </a:pPr>
            <a:r>
              <a:rPr lang="en-US" sz="465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333500" y="5290840"/>
            <a:ext cx="7573899" cy="1337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third-party library detail caused a performance regression.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333500" y="6780312"/>
            <a:ext cx="7573899" cy="8646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Specific. Manageable. A fix was found later, and left unimplemented.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601200" y="5290840"/>
            <a:ext cx="7573899" cy="1337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endParaRPr lang="en-US" sz="3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941DE8-41EB-8F97-DED4-E2C83D2A9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6AB499E-E7FE-2EE7-D036-15149BC4B834}"/>
              </a:ext>
            </a:extLst>
          </p:cNvPr>
          <p:cNvSpPr/>
          <p:nvPr/>
        </p:nvSpPr>
        <p:spPr>
          <a:xfrm>
            <a:off x="1333500" y="2870448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261D4BA-C4C7-733C-3252-DD8CE7FCB97C}"/>
              </a:ext>
            </a:extLst>
          </p:cNvPr>
          <p:cNvSpPr/>
          <p:nvPr/>
        </p:nvSpPr>
        <p:spPr>
          <a:xfrm>
            <a:off x="1333500" y="3318123"/>
            <a:ext cx="17183100" cy="696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405"/>
              </a:lnSpc>
              <a:buNone/>
            </a:pPr>
            <a:r>
              <a:rPr lang="en-US" sz="4800" kern="0" spc="-96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blockers</a:t>
            </a:r>
            <a:endParaRPr lang="en-US" sz="4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9256363-F665-DD8A-4092-7F2148088428}"/>
              </a:ext>
            </a:extLst>
          </p:cNvPr>
          <p:cNvSpPr/>
          <p:nvPr/>
        </p:nvSpPr>
        <p:spPr>
          <a:xfrm>
            <a:off x="1333500" y="4509790"/>
            <a:ext cx="808863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7324"/>
              </a:lnSpc>
              <a:buNone/>
            </a:pPr>
            <a:r>
              <a:rPr lang="en-US" sz="465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6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6FB38C9-C416-2A70-F47D-FCAE031CA192}"/>
              </a:ext>
            </a:extLst>
          </p:cNvPr>
          <p:cNvSpPr/>
          <p:nvPr/>
        </p:nvSpPr>
        <p:spPr>
          <a:xfrm>
            <a:off x="1333500" y="5290840"/>
            <a:ext cx="7573899" cy="1337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third-party library detail caused a performance regression.</a:t>
            </a:r>
            <a:endParaRPr lang="en-US" sz="33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09E6628-C375-B170-7962-BF0CBE71C4E7}"/>
              </a:ext>
            </a:extLst>
          </p:cNvPr>
          <p:cNvSpPr/>
          <p:nvPr/>
        </p:nvSpPr>
        <p:spPr>
          <a:xfrm>
            <a:off x="1333500" y="6780312"/>
            <a:ext cx="7573899" cy="8646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Specific. Manageable. A fix was found later, and left unimplemented.</a:t>
            </a:r>
            <a:endParaRPr lang="en-US" sz="21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C0A5F01-5270-B9E9-C01F-F2B5CDC7E54A}"/>
              </a:ext>
            </a:extLst>
          </p:cNvPr>
          <p:cNvSpPr/>
          <p:nvPr/>
        </p:nvSpPr>
        <p:spPr>
          <a:xfrm>
            <a:off x="9601200" y="4509790"/>
            <a:ext cx="808863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7324"/>
              </a:lnSpc>
              <a:buNone/>
            </a:pPr>
            <a:r>
              <a:rPr lang="en-US" sz="465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6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58CD991-43BC-21C4-DC2A-2E709661EE6D}"/>
              </a:ext>
            </a:extLst>
          </p:cNvPr>
          <p:cNvSpPr/>
          <p:nvPr/>
        </p:nvSpPr>
        <p:spPr>
          <a:xfrm>
            <a:off x="9601200" y="5290840"/>
            <a:ext cx="7573899" cy="1337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test and approve the new version.</a:t>
            </a:r>
            <a:endParaRPr lang="en-US" sz="3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64F102C-0308-A188-21D0-E3D173825840}"/>
              </a:ext>
            </a:extLst>
          </p:cNvPr>
          <p:cNvSpPr/>
          <p:nvPr/>
        </p:nvSpPr>
        <p:spPr>
          <a:xfrm>
            <a:off x="9601200" y="6780312"/>
            <a:ext cx="808863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is why the first one was never fixed.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11832336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914031"/>
            <a:ext cx="14716125" cy="2687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575"/>
              </a:lnSpc>
              <a:buNone/>
            </a:pPr>
            <a:r>
              <a:rPr lang="en-US" sz="5700" kern="0" spc="-114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“We weren't 100% confident in how we were going to test and approve the new version.”</a:t>
            </a:r>
            <a:endParaRPr lang="en-US" sz="5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3159026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33500" y="3606701"/>
            <a:ext cx="17183100" cy="696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405"/>
              </a:lnSpc>
              <a:buNone/>
            </a:pPr>
            <a:r>
              <a:rPr lang="en-US" sz="4800" kern="0" spc="-96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legacy resists change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333500" y="4798368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understanding of the system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33500" y="5733604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tests to protect us in its absence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333500" y="6668839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business cost when we get it wrong</a:t>
            </a:r>
            <a:endParaRPr lang="en-US" sz="3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092053"/>
            <a:ext cx="240982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957"/>
              </a:lnSpc>
              <a:buNone/>
            </a:pPr>
            <a:r>
              <a:rPr lang="en-US" sz="4500" kern="0" spc="-9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2004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4057650" y="3187303"/>
            <a:ext cx="14186535" cy="5500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150" kern="0" spc="-47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“to me, legacy code is simply code without tests”</a:t>
            </a:r>
            <a:endParaRPr lang="en-US" sz="3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84A5BF-D940-B4A3-DB81-2DCDC926B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2F7BA88-B121-E9C4-C220-AFFE5558B348}"/>
              </a:ext>
            </a:extLst>
          </p:cNvPr>
          <p:cNvSpPr/>
          <p:nvPr/>
        </p:nvSpPr>
        <p:spPr>
          <a:xfrm>
            <a:off x="1333500" y="3092053"/>
            <a:ext cx="240982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957"/>
              </a:lnSpc>
              <a:buNone/>
            </a:pPr>
            <a:r>
              <a:rPr lang="en-US" sz="4500" kern="0" spc="-9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2004</a:t>
            </a:r>
            <a:endParaRPr lang="en-US" sz="45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D17BB19-DD7E-6034-1749-70201305BC06}"/>
              </a:ext>
            </a:extLst>
          </p:cNvPr>
          <p:cNvSpPr/>
          <p:nvPr/>
        </p:nvSpPr>
        <p:spPr>
          <a:xfrm>
            <a:off x="4057650" y="3187303"/>
            <a:ext cx="14186535" cy="5500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150" kern="0" spc="-47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“to me, legacy code is simply code without tests”</a:t>
            </a:r>
            <a:endParaRPr lang="en-US" sz="31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B1A4CE2-881E-66C5-00DC-392C6CBBFB9B}"/>
              </a:ext>
            </a:extLst>
          </p:cNvPr>
          <p:cNvSpPr/>
          <p:nvPr/>
        </p:nvSpPr>
        <p:spPr>
          <a:xfrm>
            <a:off x="1333500" y="4423172"/>
            <a:ext cx="240982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957"/>
              </a:lnSpc>
              <a:buNone/>
            </a:pPr>
            <a:r>
              <a:rPr lang="en-US" sz="4500" kern="0" spc="-9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</a:t>
            </a:r>
            <a:endParaRPr lang="en-US" sz="4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2B196F6-E98F-AA72-B38E-1C7EE4E40BC5}"/>
              </a:ext>
            </a:extLst>
          </p:cNvPr>
          <p:cNvSpPr/>
          <p:nvPr/>
        </p:nvSpPr>
        <p:spPr>
          <a:xfrm>
            <a:off x="4057650" y="4518422"/>
            <a:ext cx="13283756" cy="1062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150" kern="0" spc="-47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“…the greatest limitation in writing software is our ability to understand the systems we are creating.”</a:t>
            </a:r>
            <a:endParaRPr lang="en-US" sz="3150" dirty="0"/>
          </a:p>
        </p:txBody>
      </p:sp>
    </p:spTree>
    <p:extLst>
      <p:ext uri="{BB962C8B-B14F-4D97-AF65-F5344CB8AC3E}">
        <p14:creationId xmlns:p14="http://schemas.microsoft.com/office/powerpoint/2010/main" val="1544246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DD646D-6EE7-B728-9B0F-A9D4D5D78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CB24D5A-AA1C-5585-C798-E4B908B6907E}"/>
              </a:ext>
            </a:extLst>
          </p:cNvPr>
          <p:cNvSpPr/>
          <p:nvPr/>
        </p:nvSpPr>
        <p:spPr>
          <a:xfrm>
            <a:off x="1333500" y="3092053"/>
            <a:ext cx="240982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957"/>
              </a:lnSpc>
              <a:buNone/>
            </a:pPr>
            <a:r>
              <a:rPr lang="en-US" sz="4500" kern="0" spc="-9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2004</a:t>
            </a:r>
            <a:endParaRPr lang="en-US" sz="45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2C9C251-5370-78D6-6519-205EB8E37BC5}"/>
              </a:ext>
            </a:extLst>
          </p:cNvPr>
          <p:cNvSpPr/>
          <p:nvPr/>
        </p:nvSpPr>
        <p:spPr>
          <a:xfrm>
            <a:off x="4057650" y="3187303"/>
            <a:ext cx="14186535" cy="5500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150" kern="0" spc="-47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“to me, legacy code is simply code without tests”</a:t>
            </a:r>
            <a:endParaRPr lang="en-US" sz="31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7A2C548-B4B6-214F-9BC1-9795EA393AF2}"/>
              </a:ext>
            </a:extLst>
          </p:cNvPr>
          <p:cNvSpPr/>
          <p:nvPr/>
        </p:nvSpPr>
        <p:spPr>
          <a:xfrm>
            <a:off x="1333500" y="4423172"/>
            <a:ext cx="240982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957"/>
              </a:lnSpc>
              <a:buNone/>
            </a:pPr>
            <a:r>
              <a:rPr lang="en-US" sz="4500" kern="0" spc="-9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</a:t>
            </a:r>
            <a:endParaRPr lang="en-US" sz="4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23D32EC-6E80-D384-FCE4-CD2F3545E4A1}"/>
              </a:ext>
            </a:extLst>
          </p:cNvPr>
          <p:cNvSpPr/>
          <p:nvPr/>
        </p:nvSpPr>
        <p:spPr>
          <a:xfrm>
            <a:off x="4057650" y="4518422"/>
            <a:ext cx="13283756" cy="1062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150" kern="0" spc="-47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“…the greatest limitation in writing software is our ability to understand the systems we are creating.”</a:t>
            </a:r>
            <a:endParaRPr lang="en-US" sz="31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8F243BF-1063-09CF-57FE-D19DE48B987B}"/>
              </a:ext>
            </a:extLst>
          </p:cNvPr>
          <p:cNvSpPr/>
          <p:nvPr/>
        </p:nvSpPr>
        <p:spPr>
          <a:xfrm>
            <a:off x="1333500" y="6266259"/>
            <a:ext cx="240982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957"/>
              </a:lnSpc>
              <a:buNone/>
            </a:pPr>
            <a:r>
              <a:rPr lang="en-US" sz="4500" kern="0" spc="-9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45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B43F1D9-19E5-ACD6-128A-D226707A5130}"/>
              </a:ext>
            </a:extLst>
          </p:cNvPr>
          <p:cNvSpPr/>
          <p:nvPr/>
        </p:nvSpPr>
        <p:spPr>
          <a:xfrm>
            <a:off x="4057650" y="6361509"/>
            <a:ext cx="13283756" cy="1062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150" kern="0" spc="-47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“Legacy code is code that delivers more in value than it costs to maintain.”</a:t>
            </a:r>
            <a:endParaRPr lang="en-US" sz="3150" dirty="0"/>
          </a:p>
        </p:txBody>
      </p:sp>
    </p:spTree>
    <p:extLst>
      <p:ext uri="{BB962C8B-B14F-4D97-AF65-F5344CB8AC3E}">
        <p14:creationId xmlns:p14="http://schemas.microsoft.com/office/powerpoint/2010/main" val="2902783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CE29B-DC28-2C33-89ED-3838CB941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F5ED391-569F-D090-27D0-58E5365D75A0}"/>
              </a:ext>
            </a:extLst>
          </p:cNvPr>
          <p:cNvSpPr/>
          <p:nvPr/>
        </p:nvSpPr>
        <p:spPr>
          <a:xfrm>
            <a:off x="1333500" y="3092053"/>
            <a:ext cx="240982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957"/>
              </a:lnSpc>
              <a:buNone/>
            </a:pPr>
            <a:r>
              <a:rPr lang="en-US" sz="4500" kern="0" spc="-9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2004</a:t>
            </a:r>
            <a:endParaRPr lang="en-US" sz="45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7FE195D-FC81-800A-9B7C-117B8B919618}"/>
              </a:ext>
            </a:extLst>
          </p:cNvPr>
          <p:cNvSpPr/>
          <p:nvPr/>
        </p:nvSpPr>
        <p:spPr>
          <a:xfrm>
            <a:off x="4057650" y="3187303"/>
            <a:ext cx="14186535" cy="5500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150" kern="0" spc="-47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“to me, legacy code is simply code without tests”</a:t>
            </a:r>
            <a:endParaRPr lang="en-US" sz="31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8872180-72D2-E745-D94A-C2C3D5D1BD14}"/>
              </a:ext>
            </a:extLst>
          </p:cNvPr>
          <p:cNvSpPr/>
          <p:nvPr/>
        </p:nvSpPr>
        <p:spPr>
          <a:xfrm>
            <a:off x="1333500" y="4423172"/>
            <a:ext cx="240982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957"/>
              </a:lnSpc>
              <a:buNone/>
            </a:pPr>
            <a:r>
              <a:rPr lang="en-US" sz="4500" kern="0" spc="-9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</a:t>
            </a:r>
            <a:endParaRPr lang="en-US" sz="4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E01F438-38CB-C192-668A-25C229479336}"/>
              </a:ext>
            </a:extLst>
          </p:cNvPr>
          <p:cNvSpPr/>
          <p:nvPr/>
        </p:nvSpPr>
        <p:spPr>
          <a:xfrm>
            <a:off x="4057650" y="4518422"/>
            <a:ext cx="13283756" cy="1062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150" kern="0" spc="-47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“…the greatest limitation in writing software is our ability to understand the systems we are creating.”</a:t>
            </a:r>
            <a:endParaRPr lang="en-US" sz="31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B718F27-62C8-3A4A-57EC-3484B0D54D86}"/>
              </a:ext>
            </a:extLst>
          </p:cNvPr>
          <p:cNvSpPr/>
          <p:nvPr/>
        </p:nvSpPr>
        <p:spPr>
          <a:xfrm>
            <a:off x="1333500" y="6266259"/>
            <a:ext cx="240982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957"/>
              </a:lnSpc>
              <a:buNone/>
            </a:pPr>
            <a:r>
              <a:rPr lang="en-US" sz="4500" kern="0" spc="-9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45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8C40366-8DF9-DA27-3F58-BD7970031ACF}"/>
              </a:ext>
            </a:extLst>
          </p:cNvPr>
          <p:cNvSpPr/>
          <p:nvPr/>
        </p:nvSpPr>
        <p:spPr>
          <a:xfrm>
            <a:off x="4057650" y="6361509"/>
            <a:ext cx="13283756" cy="1062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150" kern="0" spc="-47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“Legacy code is code that delivers more in value than it costs to maintain.”</a:t>
            </a:r>
            <a:endParaRPr lang="en-US" sz="3150" dirty="0"/>
          </a:p>
        </p:txBody>
      </p:sp>
    </p:spTree>
    <p:extLst>
      <p:ext uri="{BB962C8B-B14F-4D97-AF65-F5344CB8AC3E}">
        <p14:creationId xmlns:p14="http://schemas.microsoft.com/office/powerpoint/2010/main" val="33165289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2928342"/>
            <a:ext cx="1718310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kern="0" spc="29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333500" y="3722638"/>
            <a:ext cx="15304770" cy="3864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4310"/>
              </a:lnSpc>
              <a:buNone/>
            </a:pPr>
            <a:r>
              <a:rPr lang="en-US" sz="9300" kern="0" spc="-279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Knowing how to verify and approve that a change is correct.</a:t>
            </a:r>
            <a:endParaRPr lang="en-US" sz="9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914031"/>
            <a:ext cx="14716125" cy="2687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575"/>
              </a:lnSpc>
              <a:buNone/>
            </a:pPr>
            <a:r>
              <a:rPr lang="en-US" sz="5700" kern="0" spc="-114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“We weren't 100% confident in how we were going to test and approve the new version.”</a:t>
            </a:r>
            <a:endParaRPr lang="en-US" sz="5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681264"/>
            <a:ext cx="171831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486"/>
              </a:lnSpc>
              <a:buNone/>
            </a:pPr>
            <a:r>
              <a:rPr lang="en-US" sz="4800" kern="0" spc="-96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333500" y="4748064"/>
            <a:ext cx="15304770" cy="20861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0277"/>
              </a:lnSpc>
              <a:buNone/>
            </a:pPr>
            <a:r>
              <a:rPr lang="en-US" sz="4200" kern="0" spc="-84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detailed description of work to be done or materials to be used in a project: an instruction that says exactly how to do or make something”</a:t>
            </a:r>
            <a:endParaRPr lang="en-US" sz="4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488382"/>
            <a:ext cx="171831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486"/>
              </a:lnSpc>
              <a:buNone/>
            </a:pPr>
            <a:r>
              <a:rPr lang="en-US" sz="4800" kern="0" spc="-96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specification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333500" y="4555182"/>
            <a:ext cx="15304770" cy="14034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0277"/>
              </a:lnSpc>
              <a:buNone/>
            </a:pPr>
            <a:r>
              <a:rPr lang="en-US" sz="4200" kern="0" spc="-84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Translates approved needs into an implementable and verifiable description of a system.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333500" y="6339632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Interfaces. Data. Constraints. Engineering decisions.</a:t>
            </a:r>
            <a:endParaRPr lang="en-US" sz="3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360837"/>
            <a:ext cx="15500985" cy="37939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2563"/>
              </a:lnSpc>
              <a:buNone/>
            </a:pPr>
            <a:r>
              <a:rPr lang="en-US" sz="9300" kern="0" spc="-279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definition of what should be true collapses to a subset of what is.</a:t>
            </a:r>
            <a:endParaRPr lang="en-US" sz="9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702844"/>
            <a:ext cx="15697200" cy="3109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973"/>
              </a:lnSpc>
              <a:buNone/>
            </a:pPr>
            <a:r>
              <a:rPr lang="en-US" sz="4800" kern="0" spc="-96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“With a sufficient number of users of an API, it does not matter what you promise in the contract: all observable behaviors of your system will be depended on by somebody.”</a:t>
            </a:r>
            <a:endParaRPr lang="en-US" sz="4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4018657"/>
            <a:ext cx="1718310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kern="0" spc="29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REFACTORING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333500" y="4812953"/>
            <a:ext cx="15304770" cy="16838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5366"/>
              </a:lnSpc>
              <a:buNone/>
            </a:pPr>
            <a:r>
              <a:rPr lang="en-US" sz="5400" kern="0" spc="-135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Changing internal structure without changing the </a:t>
            </a:r>
            <a:r>
              <a:rPr lang="en-US" sz="5400" kern="0" spc="-135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observable behavior</a:t>
            </a:r>
            <a:r>
              <a:rPr lang="en-US" sz="5400" kern="0" spc="-135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5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218557"/>
            <a:ext cx="1718310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kern="0" spc="29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REFACTORING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333500" y="4012853"/>
            <a:ext cx="15304770" cy="16838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5366"/>
              </a:lnSpc>
              <a:buNone/>
            </a:pPr>
            <a:r>
              <a:rPr lang="en-US" sz="5400" kern="0" spc="-135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Changing internal structure without changing the </a:t>
            </a:r>
            <a:r>
              <a:rPr lang="en-US" sz="5400" kern="0" spc="-135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observable behavior</a:t>
            </a:r>
            <a:r>
              <a:rPr lang="en-US" sz="5400" kern="0" spc="-135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33500" y="6344394"/>
            <a:ext cx="1718310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7273"/>
              </a:lnSpc>
              <a:buNone/>
            </a:pPr>
            <a:r>
              <a:rPr lang="en-US" sz="7200" kern="0" spc="-216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Observable to whom?</a:t>
            </a:r>
            <a:endParaRPr lang="en-US" sz="7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3361879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33500" y="3809554"/>
            <a:ext cx="17183100" cy="696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405"/>
              </a:lnSpc>
              <a:buNone/>
            </a:pPr>
            <a:r>
              <a:rPr lang="en-US" sz="4800" kern="0" spc="-96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line falls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333500" y="5001220"/>
            <a:ext cx="8088630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4769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1333500" y="5816501"/>
            <a:ext cx="7573899" cy="1337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Something outside your process can see it.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601200" y="5001220"/>
            <a:ext cx="8088630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4769"/>
              </a:lnSpc>
              <a:buNone/>
            </a:pPr>
            <a:r>
              <a:rPr lang="en-US" sz="4200" kern="0" spc="-84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601200" y="5816501"/>
            <a:ext cx="808863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outside can. Fair game.</a:t>
            </a:r>
            <a:endParaRPr lang="en-US" sz="3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360837"/>
            <a:ext cx="15697200" cy="37939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2563"/>
              </a:lnSpc>
              <a:buNone/>
            </a:pPr>
            <a:r>
              <a:rPr lang="en-US" sz="9300" kern="0" spc="-325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must remain true at the edges, no matter what else changes.</a:t>
            </a:r>
            <a:endParaRPr lang="en-US" sz="9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1952774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33500" y="2362349"/>
            <a:ext cx="17183100" cy="572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600"/>
              </a:lnSpc>
              <a:buNone/>
            </a:pPr>
            <a:r>
              <a:rPr lang="en-US" sz="3900" kern="0" spc="-78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method, measured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1085850" y="3354437"/>
            <a:ext cx="27241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86667"/>
              </a:lnSpc>
              <a:buNone/>
            </a:pPr>
            <a:r>
              <a:rPr lang="en-US" sz="3900" kern="0" spc="-78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1,489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4229100" y="3411587"/>
            <a:ext cx="13997940" cy="539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128"/>
              </a:lnSpc>
              <a:buNone/>
            </a:pPr>
            <a:r>
              <a:rPr lang="en-US" sz="2550" dirty="0">
                <a:solidFill>
                  <a:srgbClr val="CF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in one method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085850" y="4122986"/>
            <a:ext cx="27241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86667"/>
              </a:lnSpc>
              <a:buNone/>
            </a:pPr>
            <a:r>
              <a:rPr lang="en-US" sz="3900" kern="0" spc="-78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4229100" y="4180136"/>
            <a:ext cx="13997940" cy="539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128"/>
              </a:lnSpc>
              <a:buNone/>
            </a:pPr>
            <a:r>
              <a:rPr lang="en-US" sz="2550" dirty="0">
                <a:solidFill>
                  <a:srgbClr val="CF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it covered by a single transaction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085850" y="4891534"/>
            <a:ext cx="27241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86667"/>
              </a:lnSpc>
              <a:buNone/>
            </a:pPr>
            <a:r>
              <a:rPr lang="en-US" sz="3900" kern="0" spc="-78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4229100" y="4948684"/>
            <a:ext cx="13997940" cy="539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128"/>
              </a:lnSpc>
              <a:buNone/>
            </a:pPr>
            <a:r>
              <a:rPr lang="en-US" sz="2550" dirty="0">
                <a:solidFill>
                  <a:srgbClr val="CF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synchronous HTTP call inside that transaction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85850" y="5660082"/>
            <a:ext cx="27241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86667"/>
              </a:lnSpc>
              <a:buNone/>
            </a:pPr>
            <a:r>
              <a:rPr lang="en-US" sz="3900" kern="0" spc="-78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4229100" y="5717232"/>
            <a:ext cx="13997940" cy="539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128"/>
              </a:lnSpc>
              <a:buNone/>
            </a:pPr>
            <a:r>
              <a:rPr lang="en-US" sz="2550" dirty="0">
                <a:solidFill>
                  <a:srgbClr val="CF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085850" y="6428631"/>
            <a:ext cx="27241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86667"/>
              </a:lnSpc>
              <a:buNone/>
            </a:pPr>
            <a:r>
              <a:rPr lang="en-US" sz="3900" kern="0" spc="-78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4229100" y="6485781"/>
            <a:ext cx="13997940" cy="539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128"/>
              </a:lnSpc>
              <a:buNone/>
            </a:pPr>
            <a:r>
              <a:rPr lang="en-US" sz="2550" dirty="0">
                <a:solidFill>
                  <a:srgbClr val="CF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85850" y="7197179"/>
            <a:ext cx="27241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86667"/>
              </a:lnSpc>
              <a:buNone/>
            </a:pPr>
            <a:r>
              <a:rPr lang="en-US" sz="3900" kern="0" spc="-78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464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4229100" y="7254329"/>
            <a:ext cx="13997940" cy="539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128"/>
              </a:lnSpc>
              <a:buNone/>
            </a:pPr>
            <a:r>
              <a:rPr lang="en-US" sz="2550" dirty="0">
                <a:solidFill>
                  <a:srgbClr val="CF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lines, median distance from writing a value to reading it back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085850" y="7965728"/>
            <a:ext cx="27241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86667"/>
              </a:lnSpc>
              <a:buNone/>
            </a:pPr>
            <a:r>
              <a:rPr lang="en-US" sz="3900" kern="0" spc="-78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4229100" y="8022878"/>
            <a:ext cx="13997940" cy="539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128"/>
              </a:lnSpc>
              <a:buNone/>
            </a:pPr>
            <a:r>
              <a:rPr lang="en-US" sz="2550" dirty="0">
                <a:solidFill>
                  <a:srgbClr val="CF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variables live at once at the deepest point</a:t>
            </a:r>
            <a:endParaRPr lang="en-US" sz="2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100536"/>
            <a:ext cx="8088630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13500" kern="0" spc="-54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2–6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1333500" y="4834086"/>
            <a:ext cx="808863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chunks in human short-term memory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9601200" y="3100536"/>
            <a:ext cx="8088630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13500" kern="0" spc="-54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9601200" y="4834086"/>
            <a:ext cx="808863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variables live at once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333500" y="6321772"/>
            <a:ext cx="1718310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 of knowledge · lack of information · </a:t>
            </a:r>
            <a:r>
              <a:rPr lang="en-US" sz="2100" dirty="0">
                <a:solidFill>
                  <a:srgbClr val="CF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 of processing power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33500" y="6963668"/>
            <a:ext cx="1718310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7579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Felienne Hermans, </a:t>
            </a:r>
            <a:r>
              <a:rPr lang="en-US" sz="2100" i="1" dirty="0">
                <a:solidFill>
                  <a:srgbClr val="7579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Programmer's Brain</a:t>
            </a:r>
            <a:r>
              <a:rPr lang="en-US" sz="2100" dirty="0">
                <a:solidFill>
                  <a:srgbClr val="7579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2021</a:t>
            </a:r>
            <a:endParaRPr lang="en-US" sz="2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436739"/>
            <a:ext cx="15304770" cy="1592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4615"/>
              </a:lnSpc>
              <a:buNone/>
            </a:pPr>
            <a:r>
              <a:rPr lang="en-US" sz="5100" kern="0" spc="-127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probabilistic tool is a bad way to produce something you have to trust.</a:t>
            </a:r>
            <a:endParaRPr lang="en-US" sz="5100" dirty="0"/>
          </a:p>
        </p:txBody>
      </p:sp>
      <p:sp>
        <p:nvSpPr>
          <p:cNvPr id="3" name="Text 1"/>
          <p:cNvSpPr/>
          <p:nvPr/>
        </p:nvSpPr>
        <p:spPr>
          <a:xfrm>
            <a:off x="1333500" y="5486400"/>
            <a:ext cx="15304770" cy="1592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4615"/>
              </a:lnSpc>
              <a:buNone/>
            </a:pPr>
            <a:r>
              <a:rPr lang="en-US" sz="5100" kern="0" spc="-127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very good way to produce </a:t>
            </a:r>
            <a:r>
              <a:rPr lang="en-US" sz="5100" kern="0" spc="-127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candidate you are going to check </a:t>
            </a:r>
            <a:r>
              <a:rPr lang="en-US" sz="5100" kern="0" spc="-127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5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433465"/>
            <a:ext cx="14716125" cy="2541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2563"/>
              </a:lnSpc>
              <a:buNone/>
            </a:pPr>
            <a:r>
              <a:rPr lang="en-US" sz="9300" kern="0" spc="-325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 for the remodel is greenlit.</a:t>
            </a:r>
            <a:endParaRPr lang="en-US" sz="9300" dirty="0"/>
          </a:p>
        </p:txBody>
      </p:sp>
      <p:sp>
        <p:nvSpPr>
          <p:cNvPr id="3" name="Text 1"/>
          <p:cNvSpPr/>
          <p:nvPr/>
        </p:nvSpPr>
        <p:spPr>
          <a:xfrm>
            <a:off x="1333500" y="6394549"/>
            <a:ext cx="1362075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 clear path to testing and approving what replaces it.</a:t>
            </a:r>
            <a:endParaRPr lang="en-US" sz="3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179415"/>
            <a:ext cx="1718310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kern="0" spc="29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CHARACTERIZATION TESTS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333500" y="3973711"/>
            <a:ext cx="16344900" cy="688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5108"/>
              </a:lnSpc>
              <a:buNone/>
            </a:pPr>
            <a:r>
              <a:rPr lang="en-US" sz="4200" kern="0" spc="-84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pin current behavior as-is.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333500" y="4910138"/>
            <a:ext cx="16344900" cy="688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5108"/>
              </a:lnSpc>
              <a:buNone/>
            </a:pPr>
            <a:r>
              <a:rPr lang="en-US" sz="4200" kern="0" spc="-84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make no claim that it is correct.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1333500" y="5998964"/>
            <a:ext cx="13735050" cy="1337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their own they pin everything equally. The edges tell you which of it counts.</a:t>
            </a:r>
            <a:endParaRPr lang="en-US" sz="3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2802582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33500" y="3212157"/>
            <a:ext cx="17183100" cy="572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600"/>
              </a:lnSpc>
              <a:buNone/>
            </a:pPr>
            <a:r>
              <a:rPr lang="en-US" sz="3900" kern="0" spc="-78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1333500" y="4280446"/>
            <a:ext cx="136207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154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028950" y="4280446"/>
            <a:ext cx="15318105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31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the agent full context of the app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1333500" y="5357664"/>
            <a:ext cx="136207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154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028950" y="5357664"/>
            <a:ext cx="14343317" cy="1278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31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it document data flows, invariants, and unexpected behaviors — then read them</a:t>
            </a:r>
            <a:endParaRPr lang="en-US" sz="3150" dirty="0"/>
          </a:p>
        </p:txBody>
      </p:sp>
      <p:sp>
        <p:nvSpPr>
          <p:cNvPr id="8" name="Text 6"/>
          <p:cNvSpPr/>
          <p:nvPr/>
        </p:nvSpPr>
        <p:spPr>
          <a:xfrm>
            <a:off x="1333500" y="7054900"/>
            <a:ext cx="136207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154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3028950" y="7054900"/>
            <a:ext cx="15318105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31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for the characterization suite</a:t>
            </a:r>
            <a:endParaRPr lang="en-US" sz="3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2802582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33500" y="3212157"/>
            <a:ext cx="17183100" cy="572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600"/>
              </a:lnSpc>
              <a:buNone/>
            </a:pPr>
            <a:r>
              <a:rPr lang="en-US" sz="3900" kern="0" spc="-78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1333500" y="4280446"/>
            <a:ext cx="136207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154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028950" y="4280446"/>
            <a:ext cx="15318105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31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it real inputs, baked in as fixtures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1333500" y="5357664"/>
            <a:ext cx="136207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154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028950" y="5357664"/>
            <a:ext cx="14343317" cy="1278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31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 the specification document, and put it in front of the people who know the business</a:t>
            </a:r>
            <a:endParaRPr lang="en-US" sz="3150" dirty="0"/>
          </a:p>
        </p:txBody>
      </p:sp>
      <p:sp>
        <p:nvSpPr>
          <p:cNvPr id="8" name="Text 6"/>
          <p:cNvSpPr/>
          <p:nvPr/>
        </p:nvSpPr>
        <p:spPr>
          <a:xfrm>
            <a:off x="1333500" y="7054900"/>
            <a:ext cx="136207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154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3028950" y="7054900"/>
            <a:ext cx="15318105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31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decide on the change</a:t>
            </a:r>
            <a:endParaRPr lang="en-US" sz="3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2890838"/>
            <a:ext cx="16678275" cy="2181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353"/>
              </a:lnSpc>
              <a:buNone/>
            </a:pPr>
            <a:r>
              <a:rPr lang="en-US" sz="2250" dirty="0">
                <a:solidFill>
                  <a:srgbClr val="E4E7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need to add a characterization test suite. It should capture the behavior at the edges of the system to ensure observable behavior is preserved. Search and find all the places where integration points occur — database writes, API calls, message passes, file writes — and document them. Ensure every characterization assertion preserves the outputs at the end of a unit of processing.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1047750" y="5357813"/>
            <a:ext cx="16678275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353"/>
              </a:lnSpc>
              <a:buNone/>
            </a:pPr>
            <a:r>
              <a:rPr lang="en-US" sz="2250" dirty="0">
                <a:solidFill>
                  <a:srgbClr val="E4E7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the database, use a disposable container and replicate the schema from the real database if you have read-only access; otherwise infer the structure from usage.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1047750" y="6538913"/>
            <a:ext cx="16678275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353"/>
              </a:lnSpc>
              <a:buNone/>
            </a:pPr>
            <a:r>
              <a:rPr lang="en-US" sz="2250" dirty="0">
                <a:solidFill>
                  <a:srgbClr val="E4E7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API calls and message passes, standard mocking will suffice — but the payloads must be preserved and checked.</a:t>
            </a:r>
            <a:endParaRPr lang="en-US" sz="2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360837"/>
            <a:ext cx="15697200" cy="37939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2563"/>
              </a:lnSpc>
              <a:buNone/>
            </a:pPr>
            <a:r>
              <a:rPr lang="en-US" sz="9300" kern="0" spc="-325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must remain true at the edges, no matter what else changes.</a:t>
            </a:r>
            <a:endParaRPr lang="en-US" sz="9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3112591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33500" y="3522166"/>
            <a:ext cx="17183100" cy="572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600"/>
              </a:lnSpc>
              <a:buNone/>
            </a:pPr>
            <a:r>
              <a:rPr lang="en-US" sz="3900" kern="0" spc="-78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changes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1333500" y="4590455"/>
            <a:ext cx="136207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154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028950" y="4590455"/>
            <a:ext cx="15318105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31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input parsing into a function that validates what it takes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1333500" y="5667673"/>
            <a:ext cx="136207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154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028950" y="5667673"/>
            <a:ext cx="15318105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31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 some duplicated SQL — looks every bit as safe as the first</a:t>
            </a:r>
            <a:endParaRPr lang="en-US" sz="3150" dirty="0"/>
          </a:p>
        </p:txBody>
      </p:sp>
      <p:sp>
        <p:nvSpPr>
          <p:cNvPr id="8" name="Text 6"/>
          <p:cNvSpPr/>
          <p:nvPr/>
        </p:nvSpPr>
        <p:spPr>
          <a:xfrm>
            <a:off x="1333500" y="6744891"/>
            <a:ext cx="136207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154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3028950" y="6744891"/>
            <a:ext cx="15318105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31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bugfix</a:t>
            </a:r>
            <a:endParaRPr lang="en-US" sz="3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3001714"/>
            <a:ext cx="15621000" cy="4474071"/>
          </a:xfrm>
          <a:prstGeom prst="roundRect">
            <a:avLst>
              <a:gd name="adj" fmla="val 2981"/>
            </a:avLst>
          </a:prstGeom>
          <a:ln w="19050">
            <a:solidFill>
              <a:srgbClr val="5D529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76450" y="3706564"/>
            <a:ext cx="1554861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kern="0" spc="29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RUN THE PROBE FIRST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076450" y="4500860"/>
            <a:ext cx="15192375" cy="7329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8595"/>
              </a:lnSpc>
              <a:buNone/>
            </a:pPr>
            <a:r>
              <a:rPr lang="en-US" sz="4800" kern="0" spc="-12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which one happened.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2076450" y="5576739"/>
            <a:ext cx="15548610" cy="539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128"/>
              </a:lnSpc>
              <a:buNone/>
            </a:pPr>
            <a:r>
              <a:rPr lang="en-US" sz="25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— the suite tolerated real structural change.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2076450" y="6269087"/>
            <a:ext cx="15548610" cy="539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128"/>
              </a:lnSpc>
              <a:buNone/>
            </a:pPr>
            <a:r>
              <a:rPr lang="en-US" sz="25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— the obvious cleanup wasn't.</a:t>
            </a:r>
            <a:endParaRPr lang="en-US" sz="25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746004"/>
            <a:ext cx="15500985" cy="16883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9586"/>
              </a:lnSpc>
              <a:buNone/>
            </a:pPr>
            <a:r>
              <a:rPr lang="en-US" sz="5700" kern="0" spc="-171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edges. Generate characterization tests at the edges. Then make the change.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1333500" y="6082010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· whole app · interconnected systems</a:t>
            </a:r>
            <a:endParaRPr lang="en-US" sz="3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3579763"/>
            <a:ext cx="15621000" cy="3317974"/>
          </a:xfrm>
          <a:prstGeom prst="roundRect">
            <a:avLst>
              <a:gd name="adj" fmla="val 4019"/>
            </a:avLst>
          </a:prstGeom>
          <a:ln w="19050">
            <a:solidFill>
              <a:srgbClr val="5D529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76450" y="4513213"/>
            <a:ext cx="1554861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kern="0" spc="29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THE TAKEAWAY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076450" y="5269409"/>
            <a:ext cx="15192375" cy="7329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8595"/>
              </a:lnSpc>
              <a:buNone/>
            </a:pPr>
            <a:r>
              <a:rPr lang="en-US" sz="4800" kern="0" spc="-12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Unwritten. Two sentences, nothing else.</a:t>
            </a:r>
            <a:endParaRPr lang="en-US" sz="4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43750" y="2647057"/>
            <a:ext cx="4000500" cy="4000500"/>
          </a:xfrm>
          <a:prstGeom prst="roundRect">
            <a:avLst>
              <a:gd name="adj" fmla="val 3333"/>
            </a:avLst>
          </a:prstGeom>
          <a:ln w="19050">
            <a:solidFill>
              <a:srgbClr val="5D529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918823" y="4440585"/>
            <a:ext cx="526554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kern="0" spc="29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684109" y="7180957"/>
            <a:ext cx="7574692" cy="4431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55000" lnSpcReduction="20000"/>
          </a:bodyPr>
          <a:lstStyle/>
          <a:p>
            <a:pPr>
              <a:lnSpc>
                <a:spcPct val="136400"/>
              </a:lnSpc>
            </a:pPr>
            <a:r>
              <a:rPr lang="en-US" sz="330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https://github.com/Bradleywboggs/ai-assisted-legacy-refactors-kcdc-2026</a:t>
            </a:r>
            <a:endParaRPr lang="en-US" sz="33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252D52-1E42-3C1B-BE18-272ECF1140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270" y="2846621"/>
            <a:ext cx="3583459" cy="350338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2154</Words>
  <Application>Microsoft Macintosh PowerPoint</Application>
  <PresentationFormat>Custom</PresentationFormat>
  <Paragraphs>204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Brad Boggs</cp:lastModifiedBy>
  <cp:revision>3</cp:revision>
  <dcterms:created xsi:type="dcterms:W3CDTF">2026-09-04T15:53:23Z</dcterms:created>
  <dcterms:modified xsi:type="dcterms:W3CDTF">2026-09-07T13:18:02Z</dcterms:modified>
</cp:coreProperties>
</file>