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Shape 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8" name="Shape 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Cold open follows: restore the self-accusation.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" name="Shape 1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PagerDuty goes off on slow ingestion; queue depth in the tens of thousands. The logs say one of these three.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5" name="Shape 1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PagerDuty goes off on slow ingestion; queue depth in the tens of thousands. The logs say one of these three.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1" name="Shape 1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Cold open follows: restore the self-accusation.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6" name="Shape 1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At a company where I've done a lot of work over the last couple of years.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0" name="Shape 1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hotfix incantation. Never say the values. This is the piece of specification that lived in a person, not in the code — it comes back later.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4" name="Shape 1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hotfix incantation. Never say the values. This is the piece of specification that lived in a person, not in the code — it comes back later.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8" name="Shape 1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wasn't part of the effort. I've talked to two people who were.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6" name="Shape 1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According to the guy who was the team lead at the time. The engineer ranked the first; the manager ranked the second. The disagreement is the evidence.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0" name="Shape 1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APPROVED WORDING — do not tighten. Read it, then land on the word: approve. You can test without a spec; you cannot approve without one. Attribute out loud only: the current engineering manager.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1" name="Shape 1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According to the guy who was the team lead at the time. The engineer ranked the first; the manager ranked the second. The disagreement is the evidence.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" name="Shape 1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Three reasons, and the third is the one that turns fear into a budget line.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4" name="Shape 1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Three reasons, and the third is the one that turns fear into a budget line.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Shape 1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Three reasons, and the third is the one that turns fear into a budget line.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6" name="Shape 1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slide people photograph. The years are doing argumentative work: 2004 and 2018 are what make 'reading was expensive back then' credible later. Pause here.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0" name="Shape 1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slide people photograph. The years are doing argumentative work: 2004 and 2018 are what make 'reading was expensive back then' credible later. Pause here.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5" name="Shape 1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slide people photograph. The years are doing argumentative work: 2004 and 2018 are what make 'reading was expensive back then' credible later. Pause here.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9" name="Shape 1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Second and last showing. Same asset. Nobody was careless — the definition they were working from has an unresolved word in it. Decide in the dry run whether you talk over this or stay silent. Not both.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5" name="Shape 2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Adapted from ISO/IEC/IEEE 29148:2018 — say that out loud; it is adapted, not quoted.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9" name="Shape 2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Adapted from ISO/IEC/IEEE 29148:2018 — say that out loud; it is adapted, not quoted.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Shape 2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Adapted from ISO/IEC/IEEE 29148:2018 — say that out loud; it is adapted, not quoted.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7" name="Shape 2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a greenfield app we're handed a definition of correct. In a legacy app the external spec has been stale for years, so getting to it is archaeology.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1" name="Shape 2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Say 'Hyrum's Law' out loud and stop there. Usage quietly promotes your implementation into your interface. You will never have the list of who is standing on what.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6" name="Shape 2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Adapted from ISO/IEC/IEEE 29148:2018 — say that out loud; it is adapted, not quoted.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0" name="Shape 2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Adapted from ISO/IEC/IEEE 29148:2018 — say that out loud; it is adapted, not quoted.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9" name="Shape 2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Show the whole list at once. Say three. End on 48 and stop — that number is the handoff. Never say the magic-integer values.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8" name="Shape 2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Hermans, The Programmer's Brain, 2021. Three confusions: lack of knowledge, lack of information, lack of processing power. Mine was the third, with the second underneath it — a 464-line median is information that isn't in front of you. Do NOT say I didn't have an issue with the first two. Thirty seconds, then move.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2" name="Shape 2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Hermans, The Programmer's Brain, 2021. Three confusions: lack of knowledge, lack of information, lack of processing power. Mine was the third, with the second underneath it — a 464-line median is information that isn't in front of you. Do NOT say I didn't have an issue with the first two. Thirty seconds, then move.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7" name="Shape 2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like determinism. LLMs are probabilistic. So how do you get high-quality code out of one — wrong question. I wasn't asking it to write production code. I was asking it to read code.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2" name="Shape 2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honest claim: planning, not tickets, not started. It is smaller than the room expects and saying so is the credibility play. The confidence brought the greenlight — not the artifacts.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6" name="Shape 2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honest claim: planning, not tickets, not started. It is smaller than the room expects and saying so is the credibility play. The confidence brought the greenlight — not the artifacts.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3" name="Shape 2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Feathers' term. What changed since 2004 is that we can prompt our way there. Q&amp;A backstop: a characterization test records everything the code does; the spec is the part somebody else is standing on.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8" name="Shape 2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codebase is small and these changes are small — but I've used this at greater scale across much larger cross-cutting codebases. Is AI the silver bullet? No. It took the most expensive step in the canon and made it affordable.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5" name="Shape 2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codebase is small and these changes are small — but I've used this at greater scale across much larger cross-cutting codebases. Is AI the silver bullet? No. It took the most expensive step in the canon and made it affordable.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9" name="Shape 2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 WRITTEN. Do not improvise this on the day. The last slide is the one that gets photographed and quoted.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3" name="Shape 3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Second and last showing. Same asset. Nobody was careless — the definition they were working from has an unresolved word in it. Decide in the dry run whether you talk over this or stay silent. Not both.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8" name="Shape 3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Adapted from ISO/IEC/IEEE 29148:2018 — say that out loud; it is adapted, not quoted.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0" name="Shape 3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Takeaway plus QR is the last thing on screen. No thank-you slide, no questions slide.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ody Level One…"/>
          <p:cNvSpPr txBox="1"/>
          <p:nvPr>
            <p:ph type="body" sz="quarter" idx="1"/>
          </p:nvPr>
        </p:nvSpPr>
        <p:spPr>
          <a:xfrm>
            <a:off x="901005" y="8894896"/>
            <a:ext cx="16478254" cy="477735"/>
          </a:xfrm>
          <a:prstGeom prst="rect">
            <a:avLst/>
          </a:prstGeom>
        </p:spPr>
        <p:txBody>
          <a:bodyPr lIns="34275" tIns="34275" rIns="34275" bIns="34275">
            <a:normAutofit fontScale="100000" lnSpcReduction="0"/>
          </a:bodyPr>
          <a:lstStyle>
            <a:lvl1pPr marL="171450" indent="57150" defTabSz="685800">
              <a:spcBef>
                <a:spcPts val="0"/>
              </a:spcBef>
              <a:buSzTx/>
              <a:buFontTx/>
              <a:buNone/>
              <a:defRPr b="1"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745188" indent="-199977" defTabSz="685800">
              <a:spcBef>
                <a:spcPts val="0"/>
              </a:spcBef>
              <a:buSzPts val="2600"/>
              <a:buFontTx/>
              <a:buChar char="•"/>
              <a:defRPr b="1"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02388" indent="-199977" defTabSz="685800">
              <a:spcBef>
                <a:spcPts val="0"/>
              </a:spcBef>
              <a:buSzPts val="2600"/>
              <a:buFontTx/>
              <a:defRPr b="1"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659588" indent="-199977" defTabSz="685800">
              <a:spcBef>
                <a:spcPts val="0"/>
              </a:spcBef>
              <a:buSzPts val="2600"/>
              <a:buFontTx/>
              <a:buChar char="•"/>
              <a:defRPr b="1"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16788" indent="-199977" defTabSz="685800">
              <a:spcBef>
                <a:spcPts val="0"/>
              </a:spcBef>
              <a:buSzPts val="2600"/>
              <a:buFontTx/>
              <a:buChar char="•"/>
              <a:defRPr b="1"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Title Text"/>
          <p:cNvSpPr txBox="1"/>
          <p:nvPr>
            <p:ph type="title"/>
          </p:nvPr>
        </p:nvSpPr>
        <p:spPr>
          <a:xfrm>
            <a:off x="904871" y="1931243"/>
            <a:ext cx="16478255" cy="3486152"/>
          </a:xfrm>
          <a:prstGeom prst="rect">
            <a:avLst/>
          </a:prstGeom>
        </p:spPr>
        <p:txBody>
          <a:bodyPr lIns="38100" tIns="38100" rIns="38100" bIns="38100" anchor="b">
            <a:normAutofit fontScale="100000" lnSpcReduction="0"/>
          </a:bodyPr>
          <a:lstStyle>
            <a:lvl1pPr algn="l" defTabSz="685800">
              <a:lnSpc>
                <a:spcPct val="80000"/>
              </a:lnSpc>
              <a:defRPr b="1" sz="8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0" name="Google Shape;12;p2"/>
          <p:cNvSpPr txBox="1"/>
          <p:nvPr>
            <p:ph type="body" sz="quarter" idx="21"/>
          </p:nvPr>
        </p:nvSpPr>
        <p:spPr>
          <a:xfrm>
            <a:off x="901006" y="5417392"/>
            <a:ext cx="16478253" cy="1428752"/>
          </a:xfrm>
          <a:prstGeom prst="rect">
            <a:avLst/>
          </a:prstGeom>
        </p:spPr>
        <p:txBody>
          <a:bodyPr lIns="38100" tIns="38100" rIns="38100" bIns="38100">
            <a:normAutofit fontScale="100000" lnSpcReduction="0"/>
          </a:bodyPr>
          <a:lstStyle/>
          <a:p>
            <a:pPr marL="171450" indent="57150" defTabSz="685800">
              <a:spcBef>
                <a:spcPts val="0"/>
              </a:spcBef>
              <a:buSzTx/>
              <a:buFontTx/>
              <a:buNone/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xfrm>
            <a:off x="9010129" y="9841965"/>
            <a:ext cx="258369" cy="249734"/>
          </a:xfrm>
          <a:prstGeom prst="rect">
            <a:avLst/>
          </a:prstGeom>
        </p:spPr>
        <p:txBody>
          <a:bodyPr lIns="38100" tIns="38100" rIns="38100" bIns="38100" anchor="b"/>
          <a:lstStyle>
            <a:lvl1pPr algn="ctr" defTabSz="685800"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7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0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86;p19"/>
          <p:cNvSpPr/>
          <p:nvPr/>
        </p:nvSpPr>
        <p:spPr>
          <a:xfrm>
            <a:off x="47624" y="47624"/>
            <a:ext cx="18192827" cy="1830152"/>
          </a:xfrm>
          <a:prstGeom prst="rect">
            <a:avLst/>
          </a:prstGeom>
          <a:ln w="88900">
            <a:solidFill>
              <a:srgbClr val="034D40"/>
            </a:solidFill>
          </a:ln>
        </p:spPr>
        <p:txBody>
          <a:bodyPr lIns="0" tIns="0" rIns="0" bIns="0" anchor="ctr"/>
          <a:lstStyle/>
          <a:p>
            <a:pPr algn="ctr" defTabSz="685800">
              <a:lnSpc>
                <a:spcPct val="90000"/>
              </a:lnSpc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1" name="Google Shape;87;p19"/>
          <p:cNvSpPr txBox="1"/>
          <p:nvPr/>
        </p:nvSpPr>
        <p:spPr>
          <a:xfrm>
            <a:off x="160125" y="59668"/>
            <a:ext cx="179676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lnSpc>
                <a:spcPct val="90000"/>
              </a:lnSpc>
              <a:defRPr sz="2800">
                <a:solidFill>
                  <a:srgbClr val="034D4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Titanium Sponsors</a:t>
            </a:r>
          </a:p>
        </p:txBody>
      </p:sp>
      <p:grpSp>
        <p:nvGrpSpPr>
          <p:cNvPr id="35" name="Google Shape;88;p19"/>
          <p:cNvGrpSpPr/>
          <p:nvPr/>
        </p:nvGrpSpPr>
        <p:grpSpPr>
          <a:xfrm>
            <a:off x="2484206" y="590793"/>
            <a:ext cx="14250545" cy="1173486"/>
            <a:chOff x="0" y="0"/>
            <a:chExt cx="14250544" cy="1173484"/>
          </a:xfrm>
        </p:grpSpPr>
        <p:pic>
          <p:nvPicPr>
            <p:cNvPr id="32" name="Google Shape;89;p19" descr="Google Shape;89;p1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3471848" cy="1173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3" name="Google Shape;90;p19" descr="Google Shape;90;p1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818635" y="0"/>
              <a:ext cx="3492511" cy="1173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" name="Google Shape;91;p19" descr="Google Shape;91;p19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7657937" y="0"/>
              <a:ext cx="6592608" cy="1173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6" name="Google Shape;92;p19"/>
          <p:cNvSpPr/>
          <p:nvPr/>
        </p:nvSpPr>
        <p:spPr>
          <a:xfrm>
            <a:off x="59146" y="1868633"/>
            <a:ext cx="18192827" cy="2438326"/>
          </a:xfrm>
          <a:prstGeom prst="rect">
            <a:avLst/>
          </a:prstGeom>
          <a:ln w="88900">
            <a:solidFill>
              <a:srgbClr val="034D40"/>
            </a:solidFill>
          </a:ln>
        </p:spPr>
        <p:txBody>
          <a:bodyPr lIns="0" tIns="0" rIns="0" bIns="0" anchor="ctr"/>
          <a:lstStyle/>
          <a:p>
            <a:pPr algn="ctr" defTabSz="685800">
              <a:lnSpc>
                <a:spcPct val="90000"/>
              </a:lnSpc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37" name="Google Shape;93;p19"/>
          <p:cNvSpPr txBox="1"/>
          <p:nvPr/>
        </p:nvSpPr>
        <p:spPr>
          <a:xfrm rot="16200000">
            <a:off x="16332871" y="2635803"/>
            <a:ext cx="2194426" cy="1176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685800">
              <a:lnSpc>
                <a:spcPct val="90000"/>
              </a:lnSpc>
              <a:defRPr sz="2200">
                <a:solidFill>
                  <a:srgbClr val="034D40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Platinum</a:t>
            </a:r>
          </a:p>
          <a:p>
            <a:pPr algn="ctr" defTabSz="685800">
              <a:lnSpc>
                <a:spcPct val="90000"/>
              </a:lnSpc>
              <a:spcBef>
                <a:spcPts val="3300"/>
              </a:spcBef>
              <a:defRPr sz="2200">
                <a:solidFill>
                  <a:srgbClr val="034D40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 Sponsors</a:t>
            </a:r>
          </a:p>
        </p:txBody>
      </p:sp>
      <p:pic>
        <p:nvPicPr>
          <p:cNvPr id="38" name="Google Shape;94;p19" descr="Google Shape;94;p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622824" y="2156861"/>
            <a:ext cx="3088801" cy="1044027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95;p19" descr="Google Shape;95;p1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051293" y="2068556"/>
            <a:ext cx="3297510" cy="976064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96;p19" descr="Google Shape;96;p1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767258" y="2032331"/>
            <a:ext cx="3471901" cy="104852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97;p19" descr="Google Shape;97;p19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3263853" y="2097955"/>
            <a:ext cx="3088807" cy="976063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98;p19" descr="Google Shape;98;p19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45487" y="2368246"/>
            <a:ext cx="2138720" cy="1462895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99;p19" descr="Google Shape;99;p19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2612249" y="3427013"/>
            <a:ext cx="3686071" cy="294887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00;p19" descr="Google Shape;100;p19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9331340" y="3170453"/>
            <a:ext cx="2644865" cy="893952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Google Shape;101;p19"/>
          <p:cNvSpPr/>
          <p:nvPr/>
        </p:nvSpPr>
        <p:spPr>
          <a:xfrm>
            <a:off x="47512" y="4315124"/>
            <a:ext cx="18192827" cy="2113652"/>
          </a:xfrm>
          <a:prstGeom prst="rect">
            <a:avLst/>
          </a:prstGeom>
          <a:ln w="88900">
            <a:solidFill>
              <a:srgbClr val="034D40"/>
            </a:solidFill>
          </a:ln>
        </p:spPr>
        <p:txBody>
          <a:bodyPr lIns="0" tIns="0" rIns="0" bIns="0" anchor="ctr"/>
          <a:lstStyle/>
          <a:p>
            <a:pPr algn="ctr" defTabSz="685800">
              <a:lnSpc>
                <a:spcPct val="90000"/>
              </a:lnSpc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46" name="Google Shape;102;p19"/>
          <p:cNvSpPr txBox="1"/>
          <p:nvPr/>
        </p:nvSpPr>
        <p:spPr>
          <a:xfrm rot="16200000">
            <a:off x="-167026" y="4713523"/>
            <a:ext cx="1689751" cy="1104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685800">
              <a:lnSpc>
                <a:spcPct val="90000"/>
              </a:lnSpc>
              <a:defRPr sz="2000">
                <a:solidFill>
                  <a:srgbClr val="034D40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Gold</a:t>
            </a:r>
            <a:endParaRPr sz="900"/>
          </a:p>
          <a:p>
            <a:pPr algn="ctr" defTabSz="685800">
              <a:lnSpc>
                <a:spcPct val="90000"/>
              </a:lnSpc>
              <a:spcBef>
                <a:spcPts val="3300"/>
              </a:spcBef>
              <a:defRPr sz="2000">
                <a:solidFill>
                  <a:srgbClr val="034D40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 Sponsors</a:t>
            </a:r>
          </a:p>
        </p:txBody>
      </p:sp>
      <p:pic>
        <p:nvPicPr>
          <p:cNvPr id="47" name="Google Shape;103;p19" descr="Google Shape;103;p19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3473215" y="4451918"/>
            <a:ext cx="2291218" cy="678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04;p19" descr="Google Shape;104;p19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1432014" y="5389078"/>
            <a:ext cx="2099562" cy="839826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06;p19" descr="Google Shape;106;p19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11030817" y="5535235"/>
            <a:ext cx="2329263" cy="782633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07;p19" descr="Google Shape;107;p19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1232055" y="4526955"/>
            <a:ext cx="2499480" cy="8398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08;p19" descr="Google Shape;108;p19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9089976" y="4506178"/>
            <a:ext cx="1917409" cy="8398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09;p19" descr="Google Shape;109;p19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3293312" y="5416533"/>
            <a:ext cx="2514445" cy="839826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Google Shape;110;p19"/>
          <p:cNvSpPr/>
          <p:nvPr/>
        </p:nvSpPr>
        <p:spPr>
          <a:xfrm>
            <a:off x="47624" y="6428775"/>
            <a:ext cx="18192827" cy="2742976"/>
          </a:xfrm>
          <a:prstGeom prst="rect">
            <a:avLst/>
          </a:prstGeom>
          <a:ln w="88900">
            <a:solidFill>
              <a:srgbClr val="034D40"/>
            </a:solidFill>
          </a:ln>
        </p:spPr>
        <p:txBody>
          <a:bodyPr lIns="0" tIns="0" rIns="0" bIns="0" anchor="ctr"/>
          <a:lstStyle/>
          <a:p>
            <a:pPr algn="ctr" defTabSz="685800">
              <a:lnSpc>
                <a:spcPct val="90000"/>
              </a:lnSpc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54" name="Google Shape;111;p19"/>
          <p:cNvSpPr txBox="1"/>
          <p:nvPr/>
        </p:nvSpPr>
        <p:spPr>
          <a:xfrm>
            <a:off x="160125" y="6515706"/>
            <a:ext cx="373995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lnSpc>
                <a:spcPct val="90000"/>
              </a:lnSpc>
              <a:defRPr sz="2600">
                <a:solidFill>
                  <a:srgbClr val="034D4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Friends of KCDC</a:t>
            </a:r>
          </a:p>
        </p:txBody>
      </p:sp>
      <p:pic>
        <p:nvPicPr>
          <p:cNvPr id="55" name="Google Shape;112;p19" descr="Google Shape;112;p19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4011219" y="6758502"/>
            <a:ext cx="1761239" cy="464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Google Shape;113;p19" descr="Google Shape;113;p19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6126593" y="6678403"/>
            <a:ext cx="696059" cy="464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Google Shape;114;p19" descr="Google Shape;114;p19"/>
          <p:cNvPicPr>
            <a:picLocks noChangeAspect="1"/>
          </p:cNvPicPr>
          <p:nvPr/>
        </p:nvPicPr>
        <p:blipFill>
          <a:blip r:embed="rId20">
            <a:extLst/>
          </a:blip>
          <a:stretch>
            <a:fillRect/>
          </a:stretch>
        </p:blipFill>
        <p:spPr>
          <a:xfrm>
            <a:off x="7176789" y="6658716"/>
            <a:ext cx="1113694" cy="464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58" name="Google Shape;115;p19" descr="Google Shape;115;p19"/>
          <p:cNvPicPr>
            <a:picLocks noChangeAspect="1"/>
          </p:cNvPicPr>
          <p:nvPr/>
        </p:nvPicPr>
        <p:blipFill>
          <a:blip r:embed="rId21">
            <a:extLst/>
          </a:blip>
          <a:stretch>
            <a:fillRect/>
          </a:stretch>
        </p:blipFill>
        <p:spPr>
          <a:xfrm>
            <a:off x="8417589" y="6711991"/>
            <a:ext cx="2013564" cy="358416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Google Shape;116;p19" descr="Google Shape;116;p19"/>
          <p:cNvPicPr>
            <a:picLocks noChangeAspect="1"/>
          </p:cNvPicPr>
          <p:nvPr/>
        </p:nvPicPr>
        <p:blipFill>
          <a:blip r:embed="rId22">
            <a:extLst/>
          </a:blip>
          <a:stretch>
            <a:fillRect/>
          </a:stretch>
        </p:blipFill>
        <p:spPr>
          <a:xfrm>
            <a:off x="10825346" y="6771328"/>
            <a:ext cx="1355714" cy="464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Google Shape;117;p19" descr="Google Shape;117;p19"/>
          <p:cNvPicPr>
            <a:picLocks noChangeAspect="1"/>
          </p:cNvPicPr>
          <p:nvPr/>
        </p:nvPicPr>
        <p:blipFill>
          <a:blip r:embed="rId23">
            <a:extLst/>
          </a:blip>
          <a:stretch>
            <a:fillRect/>
          </a:stretch>
        </p:blipFill>
        <p:spPr>
          <a:xfrm>
            <a:off x="14279878" y="6416481"/>
            <a:ext cx="1056754" cy="10567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Google Shape;118;p19" descr="Google Shape;118;p19"/>
          <p:cNvPicPr>
            <a:picLocks noChangeAspect="1"/>
          </p:cNvPicPr>
          <p:nvPr/>
        </p:nvPicPr>
        <p:blipFill>
          <a:blip r:embed="rId24">
            <a:extLst/>
          </a:blip>
          <a:stretch>
            <a:fillRect/>
          </a:stretch>
        </p:blipFill>
        <p:spPr>
          <a:xfrm>
            <a:off x="15647863" y="6714022"/>
            <a:ext cx="1056743" cy="464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Google Shape;119;p19" descr="Google Shape;119;p19"/>
          <p:cNvPicPr>
            <a:picLocks noChangeAspect="1"/>
          </p:cNvPicPr>
          <p:nvPr/>
        </p:nvPicPr>
        <p:blipFill>
          <a:blip r:embed="rId25">
            <a:extLst/>
          </a:blip>
          <a:stretch>
            <a:fillRect/>
          </a:stretch>
        </p:blipFill>
        <p:spPr>
          <a:xfrm>
            <a:off x="858641" y="7486034"/>
            <a:ext cx="1375642" cy="464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Google Shape;120;p19" descr="Google Shape;120;p19"/>
          <p:cNvPicPr>
            <a:picLocks noChangeAspect="1"/>
          </p:cNvPicPr>
          <p:nvPr/>
        </p:nvPicPr>
        <p:blipFill>
          <a:blip r:embed="rId26">
            <a:extLst/>
          </a:blip>
          <a:stretch>
            <a:fillRect/>
          </a:stretch>
        </p:blipFill>
        <p:spPr>
          <a:xfrm>
            <a:off x="2788382" y="7553202"/>
            <a:ext cx="2013564" cy="34917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Google Shape;121;p19" descr="Google Shape;121;p19"/>
          <p:cNvPicPr>
            <a:picLocks noChangeAspect="1"/>
          </p:cNvPicPr>
          <p:nvPr/>
        </p:nvPicPr>
        <p:blipFill>
          <a:blip r:embed="rId27">
            <a:extLst/>
          </a:blip>
          <a:stretch>
            <a:fillRect/>
          </a:stretch>
        </p:blipFill>
        <p:spPr>
          <a:xfrm>
            <a:off x="5138701" y="7493131"/>
            <a:ext cx="1845108" cy="464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Google Shape;122;p19" descr="Google Shape;122;p19"/>
          <p:cNvPicPr>
            <a:picLocks noChangeAspect="1"/>
          </p:cNvPicPr>
          <p:nvPr/>
        </p:nvPicPr>
        <p:blipFill>
          <a:blip r:embed="rId28">
            <a:extLst/>
          </a:blip>
          <a:stretch>
            <a:fillRect/>
          </a:stretch>
        </p:blipFill>
        <p:spPr>
          <a:xfrm>
            <a:off x="7504123" y="7483296"/>
            <a:ext cx="1192223" cy="464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Google Shape;123;p19" descr="Google Shape;123;p19"/>
          <p:cNvPicPr>
            <a:picLocks noChangeAspect="1"/>
          </p:cNvPicPr>
          <p:nvPr/>
        </p:nvPicPr>
        <p:blipFill>
          <a:blip r:embed="rId29">
            <a:extLst/>
          </a:blip>
          <a:stretch>
            <a:fillRect/>
          </a:stretch>
        </p:blipFill>
        <p:spPr>
          <a:xfrm>
            <a:off x="10884040" y="7578862"/>
            <a:ext cx="2013565" cy="26579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Google Shape;124;p19" descr="Google Shape;124;p19"/>
          <p:cNvPicPr>
            <a:picLocks noChangeAspect="1"/>
          </p:cNvPicPr>
          <p:nvPr/>
        </p:nvPicPr>
        <p:blipFill>
          <a:blip r:embed="rId30">
            <a:extLst/>
          </a:blip>
          <a:stretch>
            <a:fillRect/>
          </a:stretch>
        </p:blipFill>
        <p:spPr>
          <a:xfrm>
            <a:off x="13846677" y="7567786"/>
            <a:ext cx="1408991" cy="464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Google Shape;125;p19" descr="Google Shape;125;p19"/>
          <p:cNvPicPr>
            <a:picLocks noChangeAspect="1"/>
          </p:cNvPicPr>
          <p:nvPr/>
        </p:nvPicPr>
        <p:blipFill>
          <a:blip r:embed="rId31">
            <a:extLst/>
          </a:blip>
          <a:stretch>
            <a:fillRect/>
          </a:stretch>
        </p:blipFill>
        <p:spPr>
          <a:xfrm>
            <a:off x="15941358" y="7486239"/>
            <a:ext cx="2013567" cy="45103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Google Shape;126;p19" descr="Google Shape;126;p19"/>
          <p:cNvPicPr>
            <a:picLocks noChangeAspect="1"/>
          </p:cNvPicPr>
          <p:nvPr/>
        </p:nvPicPr>
        <p:blipFill>
          <a:blip r:embed="rId32">
            <a:extLst/>
          </a:blip>
          <a:stretch>
            <a:fillRect/>
          </a:stretch>
        </p:blipFill>
        <p:spPr>
          <a:xfrm>
            <a:off x="345478" y="8499410"/>
            <a:ext cx="2283531" cy="411036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Google Shape;127;p19" descr="Google Shape;127;p19"/>
          <p:cNvPicPr>
            <a:picLocks noChangeAspect="1"/>
          </p:cNvPicPr>
          <p:nvPr/>
        </p:nvPicPr>
        <p:blipFill>
          <a:blip r:embed="rId33">
            <a:extLst/>
          </a:blip>
          <a:stretch>
            <a:fillRect/>
          </a:stretch>
        </p:blipFill>
        <p:spPr>
          <a:xfrm>
            <a:off x="3714920" y="8248008"/>
            <a:ext cx="904606" cy="464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Google Shape;128;p19" descr="Google Shape;128;p19"/>
          <p:cNvPicPr>
            <a:picLocks noChangeAspect="1"/>
          </p:cNvPicPr>
          <p:nvPr/>
        </p:nvPicPr>
        <p:blipFill>
          <a:blip r:embed="rId34">
            <a:extLst/>
          </a:blip>
          <a:stretch>
            <a:fillRect/>
          </a:stretch>
        </p:blipFill>
        <p:spPr>
          <a:xfrm>
            <a:off x="5896305" y="8307868"/>
            <a:ext cx="1816277" cy="464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Google Shape;129;p19" descr="Google Shape;129;p19"/>
          <p:cNvPicPr>
            <a:picLocks noChangeAspect="1"/>
          </p:cNvPicPr>
          <p:nvPr/>
        </p:nvPicPr>
        <p:blipFill>
          <a:blip r:embed="rId35">
            <a:extLst/>
          </a:blip>
          <a:stretch>
            <a:fillRect/>
          </a:stretch>
        </p:blipFill>
        <p:spPr>
          <a:xfrm>
            <a:off x="8453215" y="8179989"/>
            <a:ext cx="904614" cy="782633"/>
          </a:xfrm>
          <a:prstGeom prst="rect">
            <a:avLst/>
          </a:prstGeom>
          <a:ln w="12700">
            <a:miter lim="400000"/>
          </a:ln>
        </p:spPr>
      </p:pic>
      <p:pic>
        <p:nvPicPr>
          <p:cNvPr id="73" name="Google Shape;130;p19" descr="Google Shape;130;p19"/>
          <p:cNvPicPr>
            <a:picLocks noChangeAspect="1"/>
          </p:cNvPicPr>
          <p:nvPr/>
        </p:nvPicPr>
        <p:blipFill>
          <a:blip r:embed="rId36">
            <a:extLst/>
          </a:blip>
          <a:stretch>
            <a:fillRect/>
          </a:stretch>
        </p:blipFill>
        <p:spPr>
          <a:xfrm>
            <a:off x="10248516" y="8346780"/>
            <a:ext cx="2283532" cy="3710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Google Shape;131;p19" descr="Google Shape;131;p19"/>
          <p:cNvPicPr>
            <a:picLocks noChangeAspect="1"/>
          </p:cNvPicPr>
          <p:nvPr/>
        </p:nvPicPr>
        <p:blipFill>
          <a:blip r:embed="rId37">
            <a:extLst/>
          </a:blip>
          <a:stretch>
            <a:fillRect/>
          </a:stretch>
        </p:blipFill>
        <p:spPr>
          <a:xfrm>
            <a:off x="13035965" y="8286985"/>
            <a:ext cx="1830578" cy="464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Google Shape;132;p19" descr="Google Shape;132;p19"/>
          <p:cNvPicPr>
            <a:picLocks noChangeAspect="1"/>
          </p:cNvPicPr>
          <p:nvPr/>
        </p:nvPicPr>
        <p:blipFill>
          <a:blip r:embed="rId38">
            <a:extLst/>
          </a:blip>
          <a:stretch>
            <a:fillRect/>
          </a:stretch>
        </p:blipFill>
        <p:spPr>
          <a:xfrm>
            <a:off x="15803953" y="8241555"/>
            <a:ext cx="2113486" cy="464968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Google Shape;133;p19"/>
          <p:cNvSpPr/>
          <p:nvPr/>
        </p:nvSpPr>
        <p:spPr>
          <a:xfrm>
            <a:off x="47625" y="9194365"/>
            <a:ext cx="18192750" cy="1045009"/>
          </a:xfrm>
          <a:prstGeom prst="rect">
            <a:avLst/>
          </a:prstGeom>
          <a:ln w="88900">
            <a:solidFill>
              <a:srgbClr val="034D40"/>
            </a:solidFill>
          </a:ln>
        </p:spPr>
        <p:txBody>
          <a:bodyPr lIns="0" tIns="0" rIns="0" bIns="0" anchor="ctr"/>
          <a:lstStyle/>
          <a:p>
            <a:pPr algn="ctr" defTabSz="685800">
              <a:lnSpc>
                <a:spcPct val="90000"/>
              </a:lnSpc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  <p:sp>
        <p:nvSpPr>
          <p:cNvPr id="77" name="Google Shape;134;p19"/>
          <p:cNvSpPr txBox="1"/>
          <p:nvPr/>
        </p:nvSpPr>
        <p:spPr>
          <a:xfrm>
            <a:off x="2712937" y="9479060"/>
            <a:ext cx="43578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685800">
              <a:lnSpc>
                <a:spcPct val="90000"/>
              </a:lnSpc>
              <a:defRPr sz="2000">
                <a:solidFill>
                  <a:srgbClr val="034D4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Other Awesome Organizations</a:t>
            </a:r>
          </a:p>
        </p:txBody>
      </p:sp>
      <p:pic>
        <p:nvPicPr>
          <p:cNvPr id="78" name="Google Shape;135;p19" descr="Google Shape;135;p19"/>
          <p:cNvPicPr>
            <a:picLocks noChangeAspect="1"/>
          </p:cNvPicPr>
          <p:nvPr/>
        </p:nvPicPr>
        <p:blipFill>
          <a:blip r:embed="rId39">
            <a:extLst/>
          </a:blip>
          <a:stretch>
            <a:fillRect/>
          </a:stretch>
        </p:blipFill>
        <p:spPr>
          <a:xfrm>
            <a:off x="6912564" y="9515468"/>
            <a:ext cx="1406332" cy="420132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Google Shape;136;p19" descr="Google Shape;136;p19"/>
          <p:cNvPicPr>
            <a:picLocks noChangeAspect="1"/>
          </p:cNvPicPr>
          <p:nvPr/>
        </p:nvPicPr>
        <p:blipFill>
          <a:blip r:embed="rId40">
            <a:extLst/>
          </a:blip>
          <a:stretch>
            <a:fillRect/>
          </a:stretch>
        </p:blipFill>
        <p:spPr>
          <a:xfrm>
            <a:off x="8696350" y="9347733"/>
            <a:ext cx="755626" cy="755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Google Shape;137;p19" descr="Google Shape;137;p19"/>
          <p:cNvPicPr>
            <a:picLocks noChangeAspect="1"/>
          </p:cNvPicPr>
          <p:nvPr/>
        </p:nvPicPr>
        <p:blipFill>
          <a:blip r:embed="rId41">
            <a:extLst/>
          </a:blip>
          <a:stretch>
            <a:fillRect/>
          </a:stretch>
        </p:blipFill>
        <p:spPr>
          <a:xfrm>
            <a:off x="9829429" y="9479288"/>
            <a:ext cx="1122432" cy="624078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Google Shape;138;p19" descr="Google Shape;138;p19"/>
          <p:cNvPicPr>
            <a:picLocks noChangeAspect="1"/>
          </p:cNvPicPr>
          <p:nvPr/>
        </p:nvPicPr>
        <p:blipFill>
          <a:blip r:embed="rId42">
            <a:extLst/>
          </a:blip>
          <a:stretch>
            <a:fillRect/>
          </a:stretch>
        </p:blipFill>
        <p:spPr>
          <a:xfrm>
            <a:off x="16718892" y="6158755"/>
            <a:ext cx="1408982" cy="1408982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Google Shape;140;p19" descr="Google Shape;140;p19"/>
          <p:cNvPicPr>
            <a:picLocks noChangeAspect="1"/>
          </p:cNvPicPr>
          <p:nvPr/>
        </p:nvPicPr>
        <p:blipFill>
          <a:blip r:embed="rId43">
            <a:extLst/>
          </a:blip>
          <a:srcRect l="35271" t="34580" r="36799" b="43508"/>
          <a:stretch>
            <a:fillRect/>
          </a:stretch>
        </p:blipFill>
        <p:spPr>
          <a:xfrm>
            <a:off x="8789964" y="7401149"/>
            <a:ext cx="1917395" cy="501377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Screenshot 2026-09-07 at 2.39.10 PM.pngGoogle Shape;141;p19" descr="Screenshot 2026-09-07 at 2.39.10 PM.pngGoogle Shape;141;p19"/>
          <p:cNvPicPr>
            <a:picLocks noChangeAspect="1"/>
          </p:cNvPicPr>
          <p:nvPr/>
        </p:nvPicPr>
        <p:blipFill>
          <a:blip r:embed="rId44">
            <a:extLst/>
          </a:blip>
          <a:stretch>
            <a:fillRect/>
          </a:stretch>
        </p:blipFill>
        <p:spPr>
          <a:xfrm>
            <a:off x="12409179" y="6712894"/>
            <a:ext cx="1763532" cy="581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Kestra.full.logo.dark.png" descr="Kestra.full.logo.dark.png"/>
          <p:cNvPicPr>
            <a:picLocks noChangeAspect="1"/>
          </p:cNvPicPr>
          <p:nvPr/>
        </p:nvPicPr>
        <p:blipFill>
          <a:blip r:embed="rId45">
            <a:extLst/>
          </a:blip>
          <a:stretch>
            <a:fillRect/>
          </a:stretch>
        </p:blipFill>
        <p:spPr>
          <a:xfrm>
            <a:off x="14367437" y="3341100"/>
            <a:ext cx="2294213" cy="523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pasted-movie.png" descr="pasted-movie.png"/>
          <p:cNvPicPr>
            <a:picLocks noChangeAspect="1"/>
          </p:cNvPicPr>
          <p:nvPr/>
        </p:nvPicPr>
        <p:blipFill>
          <a:blip r:embed="rId46">
            <a:extLst/>
          </a:blip>
          <a:stretch>
            <a:fillRect/>
          </a:stretch>
        </p:blipFill>
        <p:spPr>
          <a:xfrm>
            <a:off x="11897143" y="3205527"/>
            <a:ext cx="2550113" cy="858878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pasted-movie.png" descr="pasted-movie.png"/>
          <p:cNvPicPr>
            <a:picLocks noChangeAspect="1"/>
          </p:cNvPicPr>
          <p:nvPr/>
        </p:nvPicPr>
        <p:blipFill>
          <a:blip r:embed="rId47">
            <a:extLst/>
          </a:blip>
          <a:stretch>
            <a:fillRect/>
          </a:stretch>
        </p:blipFill>
        <p:spPr>
          <a:xfrm>
            <a:off x="6359688" y="3271874"/>
            <a:ext cx="2826050" cy="656374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pasted-movie.png" descr="pasted-movie.png"/>
          <p:cNvPicPr>
            <a:picLocks noChangeAspect="1"/>
          </p:cNvPicPr>
          <p:nvPr/>
        </p:nvPicPr>
        <p:blipFill>
          <a:blip r:embed="rId48">
            <a:extLst/>
          </a:blip>
          <a:stretch>
            <a:fillRect/>
          </a:stretch>
        </p:blipFill>
        <p:spPr>
          <a:xfrm>
            <a:off x="11624172" y="4273956"/>
            <a:ext cx="1845108" cy="13838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pasted-movie.png" descr="pasted-movie.png"/>
          <p:cNvPicPr>
            <a:picLocks noChangeAspect="1"/>
          </p:cNvPicPr>
          <p:nvPr/>
        </p:nvPicPr>
        <p:blipFill>
          <a:blip r:embed="rId49">
            <a:extLst/>
          </a:blip>
          <a:stretch>
            <a:fillRect/>
          </a:stretch>
        </p:blipFill>
        <p:spPr>
          <a:xfrm>
            <a:off x="8833426" y="5624200"/>
            <a:ext cx="1830579" cy="604704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DPL-full-color-2-o.svg" descr="DPL-full-color-2-o.svg"/>
          <p:cNvPicPr>
            <a:picLocks noChangeAspect="1"/>
          </p:cNvPicPr>
          <p:nvPr/>
        </p:nvPicPr>
        <p:blipFill>
          <a:blip r:embed="rId50">
            <a:extLst/>
          </a:blip>
          <a:stretch>
            <a:fillRect/>
          </a:stretch>
        </p:blipFill>
        <p:spPr>
          <a:xfrm>
            <a:off x="13863459" y="4477443"/>
            <a:ext cx="2016361" cy="1044027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pasted-movie.png" descr="pasted-movie.png"/>
          <p:cNvPicPr>
            <a:picLocks noChangeAspect="1"/>
          </p:cNvPicPr>
          <p:nvPr/>
        </p:nvPicPr>
        <p:blipFill>
          <a:blip r:embed="rId51">
            <a:extLst/>
          </a:blip>
          <a:srcRect l="10454" t="19945" r="7619" b="0"/>
          <a:stretch>
            <a:fillRect/>
          </a:stretch>
        </p:blipFill>
        <p:spPr>
          <a:xfrm>
            <a:off x="16001594" y="4506178"/>
            <a:ext cx="1893074" cy="937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91" name="pasted-movie.png" descr="pasted-movie.png"/>
          <p:cNvPicPr>
            <a:picLocks noChangeAspect="1"/>
          </p:cNvPicPr>
          <p:nvPr/>
        </p:nvPicPr>
        <p:blipFill>
          <a:blip r:embed="rId52">
            <a:extLst/>
          </a:blip>
          <a:srcRect l="0" t="22160" r="0" b="22160"/>
          <a:stretch>
            <a:fillRect/>
          </a:stretch>
        </p:blipFill>
        <p:spPr>
          <a:xfrm>
            <a:off x="13507820" y="5529459"/>
            <a:ext cx="2321128" cy="731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2" name="pasted-movie.png" descr="pasted-movie.png"/>
          <p:cNvPicPr>
            <a:picLocks noChangeAspect="1"/>
          </p:cNvPicPr>
          <p:nvPr/>
        </p:nvPicPr>
        <p:blipFill>
          <a:blip r:embed="rId53">
            <a:extLst/>
          </a:blip>
          <a:stretch>
            <a:fillRect/>
          </a:stretch>
        </p:blipFill>
        <p:spPr>
          <a:xfrm>
            <a:off x="15850896" y="5664698"/>
            <a:ext cx="2019505" cy="581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pasted-movie.png" descr="pasted-movie.png"/>
          <p:cNvPicPr>
            <a:picLocks noChangeAspect="1"/>
          </p:cNvPicPr>
          <p:nvPr/>
        </p:nvPicPr>
        <p:blipFill>
          <a:blip r:embed="rId54">
            <a:extLst/>
          </a:blip>
          <a:srcRect l="0" t="19950" r="0" b="19950"/>
          <a:stretch>
            <a:fillRect/>
          </a:stretch>
        </p:blipFill>
        <p:spPr>
          <a:xfrm>
            <a:off x="5986243" y="5478262"/>
            <a:ext cx="2480506" cy="782640"/>
          </a:xfrm>
          <a:prstGeom prst="rect">
            <a:avLst/>
          </a:prstGeom>
          <a:ln w="12700">
            <a:miter lim="400000"/>
          </a:ln>
        </p:spPr>
      </p:pic>
      <p:pic>
        <p:nvPicPr>
          <p:cNvPr id="94" name="pasted-movie.png" descr="pasted-movie.png"/>
          <p:cNvPicPr>
            <a:picLocks noChangeAspect="1"/>
          </p:cNvPicPr>
          <p:nvPr/>
        </p:nvPicPr>
        <p:blipFill>
          <a:blip r:embed="rId55">
            <a:extLst/>
          </a:blip>
          <a:stretch>
            <a:fillRect/>
          </a:stretch>
        </p:blipFill>
        <p:spPr>
          <a:xfrm>
            <a:off x="5979668" y="4628690"/>
            <a:ext cx="2493522" cy="4649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1333500" y="6826894"/>
            <a:ext cx="533400" cy="28576"/>
          </a:xfrm>
          <a:prstGeom prst="rect">
            <a:avLst/>
          </a:prstGeom>
          <a:solidFill>
            <a:srgbClr val="9184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1333500" y="3159025"/>
            <a:ext cx="533400" cy="28576"/>
          </a:xfrm>
          <a:prstGeom prst="rect">
            <a:avLst/>
          </a:prstGeom>
          <a:solidFill>
            <a:srgbClr val="9184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1"/>
          <p:cNvSpPr txBox="1"/>
          <p:nvPr/>
        </p:nvSpPr>
        <p:spPr>
          <a:xfrm>
            <a:off x="1333500" y="3606701"/>
            <a:ext cx="17183100" cy="696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68680">
              <a:lnSpc>
                <a:spcPct val="84064"/>
              </a:lnSpc>
              <a:defRPr spc="-95" sz="456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incident, three ways</a:t>
            </a:r>
          </a:p>
        </p:txBody>
      </p:sp>
      <p:sp>
        <p:nvSpPr>
          <p:cNvPr id="102" name="Text 2"/>
          <p:cNvSpPr txBox="1"/>
          <p:nvPr/>
        </p:nvSpPr>
        <p:spPr>
          <a:xfrm>
            <a:off x="1333500" y="4798367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Lock-wait timeout — row contention</a:t>
            </a:r>
          </a:p>
        </p:txBody>
      </p:sp>
      <p:sp>
        <p:nvSpPr>
          <p:cNvPr id="103" name="Text 3"/>
          <p:cNvSpPr txBox="1"/>
          <p:nvPr/>
        </p:nvSpPr>
        <p:spPr>
          <a:xfrm>
            <a:off x="1333500" y="5733603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Runtime error — an implicit data contract violated</a:t>
            </a:r>
          </a:p>
        </p:txBody>
      </p:sp>
      <p:sp>
        <p:nvSpPr>
          <p:cNvPr id="104" name="Text 4"/>
          <p:cNvSpPr txBox="1"/>
          <p:nvPr/>
        </p:nvSpPr>
        <p:spPr>
          <a:xfrm>
            <a:off x="1333500" y="6668838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Timestamp gaps — slow queries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1333500" y="3159025"/>
            <a:ext cx="533400" cy="28576"/>
          </a:xfrm>
          <a:prstGeom prst="rect">
            <a:avLst/>
          </a:prstGeom>
          <a:solidFill>
            <a:srgbClr val="9184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1"/>
          <p:cNvSpPr txBox="1"/>
          <p:nvPr/>
        </p:nvSpPr>
        <p:spPr>
          <a:xfrm>
            <a:off x="1333500" y="3606701"/>
            <a:ext cx="17183100" cy="696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68680">
              <a:lnSpc>
                <a:spcPct val="84064"/>
              </a:lnSpc>
              <a:defRPr spc="-95" sz="456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incident, three ways</a:t>
            </a:r>
          </a:p>
        </p:txBody>
      </p:sp>
      <p:sp>
        <p:nvSpPr>
          <p:cNvPr id="110" name="Text 2"/>
          <p:cNvSpPr txBox="1"/>
          <p:nvPr/>
        </p:nvSpPr>
        <p:spPr>
          <a:xfrm>
            <a:off x="1333500" y="4798367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Lock-wait timeout — row contention</a:t>
            </a:r>
          </a:p>
        </p:txBody>
      </p:sp>
      <p:sp>
        <p:nvSpPr>
          <p:cNvPr id="111" name="Text 3"/>
          <p:cNvSpPr txBox="1"/>
          <p:nvPr/>
        </p:nvSpPr>
        <p:spPr>
          <a:xfrm>
            <a:off x="1333500" y="5733603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Runtime error — an implicit data contract violated</a:t>
            </a:r>
          </a:p>
        </p:txBody>
      </p:sp>
      <p:sp>
        <p:nvSpPr>
          <p:cNvPr id="112" name="Text 4"/>
          <p:cNvSpPr txBox="1"/>
          <p:nvPr/>
        </p:nvSpPr>
        <p:spPr>
          <a:xfrm>
            <a:off x="1333500" y="6668838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Timestamp gaps — slow queries</a:t>
            </a:r>
          </a:p>
        </p:txBody>
      </p:sp>
      <p:sp>
        <p:nvSpPr>
          <p:cNvPr id="113" name="Text 4"/>
          <p:cNvSpPr txBox="1"/>
          <p:nvPr/>
        </p:nvSpPr>
        <p:spPr>
          <a:xfrm>
            <a:off x="1333500" y="7851725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4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 three lead to the same result: a potential customer facing outage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1333500" y="6826894"/>
            <a:ext cx="533400" cy="28576"/>
          </a:xfrm>
          <a:prstGeom prst="rect">
            <a:avLst/>
          </a:prstGeom>
          <a:solidFill>
            <a:srgbClr val="9184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1"/>
          <p:cNvSpPr txBox="1"/>
          <p:nvPr/>
        </p:nvSpPr>
        <p:spPr>
          <a:xfrm>
            <a:off x="1333500" y="7350769"/>
            <a:ext cx="14668500" cy="1048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32104">
              <a:lnSpc>
                <a:spcPct val="80228"/>
              </a:lnSpc>
              <a:defRPr spc="-273" sz="7098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Assisted Legacy Refactors</a:t>
            </a:r>
          </a:p>
        </p:txBody>
      </p:sp>
      <p:sp>
        <p:nvSpPr>
          <p:cNvPr id="119" name="Text 2"/>
          <p:cNvSpPr txBox="1"/>
          <p:nvPr/>
        </p:nvSpPr>
        <p:spPr>
          <a:xfrm>
            <a:off x="1333500" y="8780264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B2B6C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Brad Boggs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 txBox="1"/>
          <p:nvPr/>
        </p:nvSpPr>
        <p:spPr>
          <a:xfrm>
            <a:off x="1333500" y="4208412"/>
            <a:ext cx="17183100" cy="1068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41247">
              <a:lnSpc>
                <a:spcPct val="81801"/>
              </a:lnSpc>
              <a:defRPr spc="-276" sz="7176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application</a:t>
            </a:r>
          </a:p>
        </p:txBody>
      </p:sp>
      <p:sp>
        <p:nvSpPr>
          <p:cNvPr id="124" name="Text 1"/>
          <p:cNvSpPr txBox="1"/>
          <p:nvPr/>
        </p:nvSpPr>
        <p:spPr>
          <a:xfrm>
            <a:off x="1333500" y="5619601"/>
            <a:ext cx="13096875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B2B6C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 the epicenter of nearly every on-call incident.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56038" y="617219"/>
            <a:ext cx="14175924" cy="90525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56038" y="617219"/>
            <a:ext cx="14175924" cy="90525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 txBox="1"/>
          <p:nvPr/>
        </p:nvSpPr>
        <p:spPr>
          <a:xfrm>
            <a:off x="1333500" y="4010471"/>
            <a:ext cx="14225588" cy="2494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1735"/>
              </a:lnSpc>
              <a:defRPr spc="-300" sz="9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rewrite was attempted. And aborted.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1333500" y="2870448"/>
            <a:ext cx="533400" cy="28576"/>
          </a:xfrm>
          <a:prstGeom prst="rect">
            <a:avLst/>
          </a:prstGeom>
          <a:solidFill>
            <a:srgbClr val="9184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1"/>
          <p:cNvSpPr txBox="1"/>
          <p:nvPr/>
        </p:nvSpPr>
        <p:spPr>
          <a:xfrm>
            <a:off x="1333500" y="3318123"/>
            <a:ext cx="17183100" cy="696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68680">
              <a:lnSpc>
                <a:spcPct val="84064"/>
              </a:lnSpc>
              <a:defRPr spc="-95" sz="456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blockers</a:t>
            </a:r>
          </a:p>
        </p:txBody>
      </p:sp>
      <p:sp>
        <p:nvSpPr>
          <p:cNvPr id="142" name="Text 2"/>
          <p:cNvSpPr txBox="1"/>
          <p:nvPr/>
        </p:nvSpPr>
        <p:spPr>
          <a:xfrm>
            <a:off x="1333499" y="4509789"/>
            <a:ext cx="8088632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22959">
              <a:lnSpc>
                <a:spcPct val="78591"/>
              </a:lnSpc>
              <a:defRPr sz="4140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43" name="Text 3"/>
          <p:cNvSpPr txBox="1"/>
          <p:nvPr/>
        </p:nvSpPr>
        <p:spPr>
          <a:xfrm>
            <a:off x="1333500" y="5290839"/>
            <a:ext cx="7573899" cy="1337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2759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third-party library detail caused a performance regression.</a:t>
            </a:r>
          </a:p>
        </p:txBody>
      </p:sp>
      <p:sp>
        <p:nvSpPr>
          <p:cNvPr id="144" name="Text 4"/>
          <p:cNvSpPr txBox="1"/>
          <p:nvPr/>
        </p:nvSpPr>
        <p:spPr>
          <a:xfrm>
            <a:off x="1333500" y="6780311"/>
            <a:ext cx="7573899" cy="864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2062"/>
              </a:lnSpc>
              <a:defRPr sz="2100">
                <a:solidFill>
                  <a:srgbClr val="9397A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Specific. Manageable. A fix was found later, and left unimplemented.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 txBox="1"/>
          <p:nvPr/>
        </p:nvSpPr>
        <p:spPr>
          <a:xfrm>
            <a:off x="1333500" y="3914030"/>
            <a:ext cx="14716125" cy="268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575"/>
              </a:lnSpc>
              <a:defRPr spc="-200" sz="57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“We weren't 100% confident in how we were going to test and approve the new version.”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1333500" y="2870448"/>
            <a:ext cx="533400" cy="28576"/>
          </a:xfrm>
          <a:prstGeom prst="rect">
            <a:avLst/>
          </a:prstGeom>
          <a:solidFill>
            <a:srgbClr val="9184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1"/>
          <p:cNvSpPr txBox="1"/>
          <p:nvPr/>
        </p:nvSpPr>
        <p:spPr>
          <a:xfrm>
            <a:off x="1333500" y="3318123"/>
            <a:ext cx="17183100" cy="696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68680">
              <a:lnSpc>
                <a:spcPct val="84064"/>
              </a:lnSpc>
              <a:defRPr spc="-95" sz="456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blockers</a:t>
            </a:r>
          </a:p>
        </p:txBody>
      </p:sp>
      <p:sp>
        <p:nvSpPr>
          <p:cNvPr id="154" name="Text 2"/>
          <p:cNvSpPr txBox="1"/>
          <p:nvPr/>
        </p:nvSpPr>
        <p:spPr>
          <a:xfrm>
            <a:off x="1333499" y="4509789"/>
            <a:ext cx="8088632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22959">
              <a:lnSpc>
                <a:spcPct val="78591"/>
              </a:lnSpc>
              <a:defRPr sz="4140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55" name="Text 3"/>
          <p:cNvSpPr txBox="1"/>
          <p:nvPr/>
        </p:nvSpPr>
        <p:spPr>
          <a:xfrm>
            <a:off x="1333500" y="5290839"/>
            <a:ext cx="7573899" cy="1337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2759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third-party library detail caused a performance regression.</a:t>
            </a:r>
          </a:p>
        </p:txBody>
      </p:sp>
      <p:sp>
        <p:nvSpPr>
          <p:cNvPr id="156" name="Text 4"/>
          <p:cNvSpPr txBox="1"/>
          <p:nvPr/>
        </p:nvSpPr>
        <p:spPr>
          <a:xfrm>
            <a:off x="1333500" y="6780311"/>
            <a:ext cx="7573899" cy="864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2062"/>
              </a:lnSpc>
              <a:defRPr sz="2100">
                <a:solidFill>
                  <a:srgbClr val="9397A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Specific. Manageable. A fix was found later, and left unimplemented.</a:t>
            </a:r>
          </a:p>
        </p:txBody>
      </p:sp>
      <p:sp>
        <p:nvSpPr>
          <p:cNvPr id="157" name="Text 5"/>
          <p:cNvSpPr txBox="1"/>
          <p:nvPr/>
        </p:nvSpPr>
        <p:spPr>
          <a:xfrm>
            <a:off x="9601200" y="4509789"/>
            <a:ext cx="8088631" cy="62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22959">
              <a:lnSpc>
                <a:spcPct val="78591"/>
              </a:lnSpc>
              <a:defRPr sz="4140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58" name="Text 6"/>
          <p:cNvSpPr txBox="1"/>
          <p:nvPr/>
        </p:nvSpPr>
        <p:spPr>
          <a:xfrm>
            <a:off x="9601200" y="5290839"/>
            <a:ext cx="7573899" cy="1337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2759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way to test and approve the new version.</a:t>
            </a:r>
          </a:p>
        </p:txBody>
      </p:sp>
      <p:sp>
        <p:nvSpPr>
          <p:cNvPr id="159" name="Text 7"/>
          <p:cNvSpPr txBox="1"/>
          <p:nvPr/>
        </p:nvSpPr>
        <p:spPr>
          <a:xfrm>
            <a:off x="9601200" y="6780311"/>
            <a:ext cx="8088631" cy="451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625"/>
              </a:lnSpc>
              <a:defRPr sz="2100">
                <a:solidFill>
                  <a:srgbClr val="9397A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Which is why the first one was never fixed.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1333500" y="3159025"/>
            <a:ext cx="533400" cy="28576"/>
          </a:xfrm>
          <a:prstGeom prst="rect">
            <a:avLst/>
          </a:prstGeom>
          <a:solidFill>
            <a:srgbClr val="9184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1"/>
          <p:cNvSpPr txBox="1"/>
          <p:nvPr/>
        </p:nvSpPr>
        <p:spPr>
          <a:xfrm>
            <a:off x="1333500" y="3606701"/>
            <a:ext cx="17183100" cy="696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68680">
              <a:lnSpc>
                <a:spcPct val="84064"/>
              </a:lnSpc>
              <a:defRPr spc="-95" sz="456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legacy resists change</a:t>
            </a:r>
          </a:p>
        </p:txBody>
      </p:sp>
      <p:sp>
        <p:nvSpPr>
          <p:cNvPr id="165" name="Text 2"/>
          <p:cNvSpPr txBox="1"/>
          <p:nvPr/>
        </p:nvSpPr>
        <p:spPr>
          <a:xfrm>
            <a:off x="1333500" y="4798367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understanding of the 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1333500" y="3159025"/>
            <a:ext cx="533400" cy="28576"/>
          </a:xfrm>
          <a:prstGeom prst="rect">
            <a:avLst/>
          </a:prstGeom>
          <a:solidFill>
            <a:srgbClr val="9184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"/>
          <p:cNvSpPr txBox="1"/>
          <p:nvPr/>
        </p:nvSpPr>
        <p:spPr>
          <a:xfrm>
            <a:off x="1333500" y="3606701"/>
            <a:ext cx="17183100" cy="696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68680">
              <a:lnSpc>
                <a:spcPct val="84064"/>
              </a:lnSpc>
              <a:defRPr spc="-95" sz="456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legacy resists change</a:t>
            </a:r>
          </a:p>
        </p:txBody>
      </p:sp>
      <p:sp>
        <p:nvSpPr>
          <p:cNvPr id="171" name="Text 2"/>
          <p:cNvSpPr txBox="1"/>
          <p:nvPr/>
        </p:nvSpPr>
        <p:spPr>
          <a:xfrm>
            <a:off x="1333500" y="4798367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understanding of the system</a:t>
            </a:r>
          </a:p>
        </p:txBody>
      </p:sp>
      <p:sp>
        <p:nvSpPr>
          <p:cNvPr id="172" name="Text 3"/>
          <p:cNvSpPr txBox="1"/>
          <p:nvPr/>
        </p:nvSpPr>
        <p:spPr>
          <a:xfrm>
            <a:off x="1333500" y="5733603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tests to protect us in its absence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1333500" y="3159025"/>
            <a:ext cx="533400" cy="28576"/>
          </a:xfrm>
          <a:prstGeom prst="rect">
            <a:avLst/>
          </a:prstGeom>
          <a:solidFill>
            <a:srgbClr val="9184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1"/>
          <p:cNvSpPr txBox="1"/>
          <p:nvPr/>
        </p:nvSpPr>
        <p:spPr>
          <a:xfrm>
            <a:off x="1333500" y="3606701"/>
            <a:ext cx="17183100" cy="696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68680">
              <a:lnSpc>
                <a:spcPct val="84064"/>
              </a:lnSpc>
              <a:defRPr spc="-95" sz="456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legacy resists change</a:t>
            </a:r>
          </a:p>
        </p:txBody>
      </p:sp>
      <p:sp>
        <p:nvSpPr>
          <p:cNvPr id="178" name="Text 2"/>
          <p:cNvSpPr txBox="1"/>
          <p:nvPr/>
        </p:nvSpPr>
        <p:spPr>
          <a:xfrm>
            <a:off x="1333500" y="4798367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understanding of the system</a:t>
            </a:r>
          </a:p>
        </p:txBody>
      </p:sp>
      <p:sp>
        <p:nvSpPr>
          <p:cNvPr id="179" name="Text 3"/>
          <p:cNvSpPr txBox="1"/>
          <p:nvPr/>
        </p:nvSpPr>
        <p:spPr>
          <a:xfrm>
            <a:off x="1333500" y="5733603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tests to protect us in its absence</a:t>
            </a:r>
          </a:p>
        </p:txBody>
      </p:sp>
      <p:sp>
        <p:nvSpPr>
          <p:cNvPr id="180" name="Text 4"/>
          <p:cNvSpPr txBox="1"/>
          <p:nvPr/>
        </p:nvSpPr>
        <p:spPr>
          <a:xfrm>
            <a:off x="1333500" y="6668838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Real business cost when we get it wrong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2004…"/>
          <p:cNvSpPr txBox="1"/>
          <p:nvPr/>
        </p:nvSpPr>
        <p:spPr>
          <a:xfrm>
            <a:off x="626364" y="2576830"/>
            <a:ext cx="17035272" cy="5133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4400"/>
              </a:spcBef>
              <a:defRPr sz="8600">
                <a:solidFill>
                  <a:srgbClr val="9184D9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2004</a:t>
            </a:r>
          </a:p>
          <a:p>
            <a:pPr defTabSz="457200">
              <a:defRPr sz="7600">
                <a:solidFill>
                  <a:srgbClr val="E9E9ED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“to me, legacy code is simply code without tests”</a:t>
            </a:r>
          </a:p>
          <a:p>
            <a:pPr defTabSz="457200">
              <a:defRPr sz="2800">
                <a:solidFill>
                  <a:srgbClr val="9397AB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Michael Feathers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2022…"/>
          <p:cNvSpPr txBox="1"/>
          <p:nvPr/>
        </p:nvSpPr>
        <p:spPr>
          <a:xfrm>
            <a:off x="550222" y="2576830"/>
            <a:ext cx="17187556" cy="5133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spcBef>
                <a:spcPts val="4400"/>
              </a:spcBef>
              <a:defRPr sz="8600">
                <a:solidFill>
                  <a:srgbClr val="9184D9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2022</a:t>
            </a:r>
          </a:p>
          <a:p>
            <a:pPr defTabSz="457200">
              <a:defRPr sz="7600">
                <a:solidFill>
                  <a:srgbClr val="E9E9ED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“Legacy code is code that delivers more in value than it costs to maintain.”</a:t>
            </a:r>
          </a:p>
          <a:p>
            <a:pPr defTabSz="457200">
              <a:defRPr sz="2800">
                <a:solidFill>
                  <a:srgbClr val="9397AB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Brad Ediger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01857" y="339544"/>
            <a:ext cx="10204677" cy="9607912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erminator"/>
          <p:cNvSpPr/>
          <p:nvPr/>
        </p:nvSpPr>
        <p:spPr>
          <a:xfrm>
            <a:off x="11460357" y="4029091"/>
            <a:ext cx="289048" cy="144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5">
              <a:lumOff val="20196"/>
            </a:schemeClr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 txBox="1"/>
          <p:nvPr/>
        </p:nvSpPr>
        <p:spPr>
          <a:xfrm>
            <a:off x="1333500" y="3914030"/>
            <a:ext cx="14716125" cy="268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575"/>
              </a:lnSpc>
              <a:defRPr spc="-200" sz="57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“We weren't 100% confident in how we were going to test and approve the new version.”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 txBox="1"/>
          <p:nvPr/>
        </p:nvSpPr>
        <p:spPr>
          <a:xfrm>
            <a:off x="1333500" y="3488382"/>
            <a:ext cx="171831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77837"/>
              </a:lnSpc>
              <a:defRPr spc="-88" sz="4224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technical specification</a:t>
            </a:r>
          </a:p>
        </p:txBody>
      </p:sp>
      <p:sp>
        <p:nvSpPr>
          <p:cNvPr id="202" name="Text 1"/>
          <p:cNvSpPr txBox="1"/>
          <p:nvPr/>
        </p:nvSpPr>
        <p:spPr>
          <a:xfrm>
            <a:off x="1333500" y="4555182"/>
            <a:ext cx="15304770" cy="1403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99249"/>
              </a:lnSpc>
              <a:defRPr spc="-100" sz="42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Translates approved needs into an implementable and verifiable description of a system.</a:t>
            </a:r>
          </a:p>
        </p:txBody>
      </p:sp>
      <p:sp>
        <p:nvSpPr>
          <p:cNvPr id="203" name="Text 2"/>
          <p:cNvSpPr txBox="1"/>
          <p:nvPr/>
        </p:nvSpPr>
        <p:spPr>
          <a:xfrm>
            <a:off x="1333500" y="6339632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9397A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Interfaces. Data. Constraints. Engineering decisions.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10031" y="2399405"/>
            <a:ext cx="14207968" cy="54881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03120" y="2400300"/>
            <a:ext cx="14081761" cy="5486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 txBox="1"/>
          <p:nvPr/>
        </p:nvSpPr>
        <p:spPr>
          <a:xfrm>
            <a:off x="1333500" y="3360837"/>
            <a:ext cx="15500986" cy="3793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83306"/>
              </a:lnSpc>
              <a:defRPr spc="-300" sz="9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definition of what </a:t>
            </a:r>
            <a:r>
              <a:rPr i="1" u="sng"/>
              <a:t>should be</a:t>
            </a:r>
            <a:r>
              <a:t> collapses to a subset of what </a:t>
            </a:r>
            <a:r>
              <a:rPr i="1" u="sng"/>
              <a:t>is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0"/>
          <p:cNvSpPr txBox="1"/>
          <p:nvPr/>
        </p:nvSpPr>
        <p:spPr>
          <a:xfrm>
            <a:off x="1333500" y="3702844"/>
            <a:ext cx="15697200" cy="3109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98075"/>
              </a:lnSpc>
              <a:defRPr spc="-100" sz="48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“With a sufficient number of users of an API, it does not matter what you promise in the contract: all observable behaviors of your system will be depended on by somebody.”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 txBox="1"/>
          <p:nvPr/>
        </p:nvSpPr>
        <p:spPr>
          <a:xfrm>
            <a:off x="1333500" y="3488382"/>
            <a:ext cx="171831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77837"/>
              </a:lnSpc>
              <a:defRPr spc="-88" sz="4224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legacy system specification</a:t>
            </a:r>
          </a:p>
        </p:txBody>
      </p:sp>
      <p:sp>
        <p:nvSpPr>
          <p:cNvPr id="224" name="Text 1"/>
          <p:cNvSpPr txBox="1"/>
          <p:nvPr/>
        </p:nvSpPr>
        <p:spPr>
          <a:xfrm>
            <a:off x="1333500" y="4555182"/>
            <a:ext cx="15304770" cy="1403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277"/>
              </a:lnSpc>
              <a:defRPr spc="-100" sz="42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must remain true at the edges no matter what else changes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0"/>
          <p:cNvSpPr txBox="1"/>
          <p:nvPr/>
        </p:nvSpPr>
        <p:spPr>
          <a:xfrm>
            <a:off x="1333500" y="3488382"/>
            <a:ext cx="171831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77837"/>
              </a:lnSpc>
              <a:defRPr spc="-88" sz="4224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 Call Incident #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0"/>
          <p:cNvSpPr/>
          <p:nvPr/>
        </p:nvSpPr>
        <p:spPr>
          <a:xfrm>
            <a:off x="1333500" y="1952774"/>
            <a:ext cx="533400" cy="28576"/>
          </a:xfrm>
          <a:prstGeom prst="rect">
            <a:avLst/>
          </a:prstGeom>
          <a:solidFill>
            <a:srgbClr val="9184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1"/>
          <p:cNvSpPr txBox="1"/>
          <p:nvPr/>
        </p:nvSpPr>
        <p:spPr>
          <a:xfrm>
            <a:off x="1333500" y="2362349"/>
            <a:ext cx="17183100" cy="572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59536">
              <a:lnSpc>
                <a:spcPct val="84240"/>
              </a:lnSpc>
              <a:defRPr spc="-94" sz="3666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method, measured</a:t>
            </a:r>
          </a:p>
        </p:txBody>
      </p:sp>
      <p:sp>
        <p:nvSpPr>
          <p:cNvPr id="234" name="Text 2"/>
          <p:cNvSpPr txBox="1"/>
          <p:nvPr/>
        </p:nvSpPr>
        <p:spPr>
          <a:xfrm>
            <a:off x="1085850" y="3354437"/>
            <a:ext cx="272415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r" defTabSz="813816">
              <a:lnSpc>
                <a:spcPct val="78000"/>
              </a:lnSpc>
              <a:defRPr spc="-89" sz="3471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1,489</a:t>
            </a:r>
          </a:p>
        </p:txBody>
      </p:sp>
      <p:sp>
        <p:nvSpPr>
          <p:cNvPr id="235" name="Text 3"/>
          <p:cNvSpPr txBox="1"/>
          <p:nvPr/>
        </p:nvSpPr>
        <p:spPr>
          <a:xfrm>
            <a:off x="4229100" y="3411587"/>
            <a:ext cx="13997940" cy="539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CFD3E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lines in one method</a:t>
            </a:r>
          </a:p>
        </p:txBody>
      </p:sp>
      <p:sp>
        <p:nvSpPr>
          <p:cNvPr id="236" name="Text 4"/>
          <p:cNvSpPr txBox="1"/>
          <p:nvPr/>
        </p:nvSpPr>
        <p:spPr>
          <a:xfrm>
            <a:off x="1085850" y="4122985"/>
            <a:ext cx="272415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r" defTabSz="813816">
              <a:lnSpc>
                <a:spcPct val="78000"/>
              </a:lnSpc>
              <a:defRPr spc="-89" sz="3471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92%</a:t>
            </a:r>
          </a:p>
        </p:txBody>
      </p:sp>
      <p:sp>
        <p:nvSpPr>
          <p:cNvPr id="237" name="Text 5"/>
          <p:cNvSpPr txBox="1"/>
          <p:nvPr/>
        </p:nvSpPr>
        <p:spPr>
          <a:xfrm>
            <a:off x="4229100" y="4180135"/>
            <a:ext cx="13997940" cy="539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CFD3E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of it covered by a single transaction</a:t>
            </a:r>
          </a:p>
        </p:txBody>
      </p:sp>
      <p:sp>
        <p:nvSpPr>
          <p:cNvPr id="238" name="Text 6"/>
          <p:cNvSpPr txBox="1"/>
          <p:nvPr/>
        </p:nvSpPr>
        <p:spPr>
          <a:xfrm>
            <a:off x="1085850" y="4891533"/>
            <a:ext cx="272415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r" defTabSz="813816">
              <a:lnSpc>
                <a:spcPct val="78000"/>
              </a:lnSpc>
              <a:defRPr spc="-89" sz="3471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9" name="Text 7"/>
          <p:cNvSpPr txBox="1"/>
          <p:nvPr/>
        </p:nvSpPr>
        <p:spPr>
          <a:xfrm>
            <a:off x="4229100" y="4948683"/>
            <a:ext cx="13997940" cy="539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CFD3E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synchronous HTTP call inside that transaction</a:t>
            </a:r>
          </a:p>
        </p:txBody>
      </p:sp>
      <p:sp>
        <p:nvSpPr>
          <p:cNvPr id="240" name="Text 8"/>
          <p:cNvSpPr txBox="1"/>
          <p:nvPr/>
        </p:nvSpPr>
        <p:spPr>
          <a:xfrm>
            <a:off x="1085850" y="5660082"/>
            <a:ext cx="272415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r" defTabSz="813816">
              <a:lnSpc>
                <a:spcPct val="78000"/>
              </a:lnSpc>
              <a:defRPr spc="-89" sz="3471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241" name="Text 9"/>
          <p:cNvSpPr txBox="1"/>
          <p:nvPr/>
        </p:nvSpPr>
        <p:spPr>
          <a:xfrm>
            <a:off x="4229100" y="5717232"/>
            <a:ext cx="13997940" cy="539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CFD3E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writes</a:t>
            </a:r>
          </a:p>
        </p:txBody>
      </p:sp>
      <p:sp>
        <p:nvSpPr>
          <p:cNvPr id="242" name="Text 10"/>
          <p:cNvSpPr txBox="1"/>
          <p:nvPr/>
        </p:nvSpPr>
        <p:spPr>
          <a:xfrm>
            <a:off x="1085850" y="6428630"/>
            <a:ext cx="272415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r" defTabSz="813816">
              <a:lnSpc>
                <a:spcPct val="78000"/>
              </a:lnSpc>
              <a:defRPr spc="-89" sz="3471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43" name="Text 11"/>
          <p:cNvSpPr txBox="1"/>
          <p:nvPr/>
        </p:nvSpPr>
        <p:spPr>
          <a:xfrm>
            <a:off x="4229100" y="6485780"/>
            <a:ext cx="13997940" cy="539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CFD3E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reads</a:t>
            </a:r>
          </a:p>
        </p:txBody>
      </p:sp>
      <p:sp>
        <p:nvSpPr>
          <p:cNvPr id="244" name="Text 12"/>
          <p:cNvSpPr txBox="1"/>
          <p:nvPr/>
        </p:nvSpPr>
        <p:spPr>
          <a:xfrm>
            <a:off x="1085850" y="7197179"/>
            <a:ext cx="272415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r" defTabSz="813816">
              <a:lnSpc>
                <a:spcPct val="78000"/>
              </a:lnSpc>
              <a:defRPr spc="-89" sz="3471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464</a:t>
            </a:r>
          </a:p>
        </p:txBody>
      </p:sp>
      <p:sp>
        <p:nvSpPr>
          <p:cNvPr id="245" name="Text 13"/>
          <p:cNvSpPr txBox="1"/>
          <p:nvPr/>
        </p:nvSpPr>
        <p:spPr>
          <a:xfrm>
            <a:off x="4229100" y="7254329"/>
            <a:ext cx="13997940" cy="539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CFD3E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lines, median distance from writing a value to reading it back</a:t>
            </a:r>
          </a:p>
        </p:txBody>
      </p:sp>
      <p:sp>
        <p:nvSpPr>
          <p:cNvPr id="246" name="Text 14"/>
          <p:cNvSpPr txBox="1"/>
          <p:nvPr/>
        </p:nvSpPr>
        <p:spPr>
          <a:xfrm>
            <a:off x="1085850" y="7965727"/>
            <a:ext cx="272415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algn="r" defTabSz="813816">
              <a:lnSpc>
                <a:spcPct val="78000"/>
              </a:lnSpc>
              <a:defRPr spc="-89" sz="3471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48</a:t>
            </a:r>
          </a:p>
        </p:txBody>
      </p:sp>
      <p:sp>
        <p:nvSpPr>
          <p:cNvPr id="247" name="Text 15"/>
          <p:cNvSpPr txBox="1"/>
          <p:nvPr/>
        </p:nvSpPr>
        <p:spPr>
          <a:xfrm>
            <a:off x="4229100" y="8022877"/>
            <a:ext cx="13997940" cy="539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128"/>
              </a:lnSpc>
              <a:defRPr sz="2500">
                <a:solidFill>
                  <a:srgbClr val="CFD3E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variables live at once at the deepest point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 txBox="1"/>
          <p:nvPr/>
        </p:nvSpPr>
        <p:spPr>
          <a:xfrm>
            <a:off x="1333499" y="3100535"/>
            <a:ext cx="8088632" cy="158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22376">
              <a:lnSpc>
                <a:spcPct val="70434"/>
              </a:lnSpc>
              <a:defRPr spc="-395" sz="10665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2–6</a:t>
            </a:r>
          </a:p>
        </p:txBody>
      </p:sp>
      <p:sp>
        <p:nvSpPr>
          <p:cNvPr id="252" name="Text 1"/>
          <p:cNvSpPr txBox="1"/>
          <p:nvPr/>
        </p:nvSpPr>
        <p:spPr>
          <a:xfrm>
            <a:off x="1333499" y="4834085"/>
            <a:ext cx="8088632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B2B6C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chunks in human short-term memory</a:t>
            </a:r>
          </a:p>
        </p:txBody>
      </p:sp>
      <p:sp>
        <p:nvSpPr>
          <p:cNvPr id="253" name="Text 2"/>
          <p:cNvSpPr txBox="1"/>
          <p:nvPr/>
        </p:nvSpPr>
        <p:spPr>
          <a:xfrm>
            <a:off x="9601200" y="3100535"/>
            <a:ext cx="8088631" cy="158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22376">
              <a:lnSpc>
                <a:spcPct val="70434"/>
              </a:lnSpc>
              <a:defRPr spc="-395" sz="10665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48</a:t>
            </a:r>
          </a:p>
        </p:txBody>
      </p:sp>
      <p:sp>
        <p:nvSpPr>
          <p:cNvPr id="254" name="Text 3"/>
          <p:cNvSpPr txBox="1"/>
          <p:nvPr/>
        </p:nvSpPr>
        <p:spPr>
          <a:xfrm>
            <a:off x="9601200" y="4834085"/>
            <a:ext cx="8088631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B2B6C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variables live at once</a:t>
            </a:r>
          </a:p>
        </p:txBody>
      </p:sp>
      <p:sp>
        <p:nvSpPr>
          <p:cNvPr id="255" name="Text 4"/>
          <p:cNvSpPr txBox="1"/>
          <p:nvPr/>
        </p:nvSpPr>
        <p:spPr>
          <a:xfrm>
            <a:off x="1333500" y="6321771"/>
            <a:ext cx="17183100" cy="451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35625"/>
              </a:lnSpc>
              <a:defRPr sz="2100">
                <a:solidFill>
                  <a:srgbClr val="9397A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Lack of knowledge · lack of information · </a:t>
            </a:r>
            <a:r>
              <a:rPr>
                <a:solidFill>
                  <a:srgbClr val="CFD3E5"/>
                </a:solidFill>
              </a:rPr>
              <a:t>lack of processing power</a:t>
            </a:r>
          </a:p>
        </p:txBody>
      </p:sp>
      <p:sp>
        <p:nvSpPr>
          <p:cNvPr id="256" name="Text 5"/>
          <p:cNvSpPr txBox="1"/>
          <p:nvPr/>
        </p:nvSpPr>
        <p:spPr>
          <a:xfrm>
            <a:off x="1333500" y="6963667"/>
            <a:ext cx="17183100" cy="451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135625"/>
              </a:lnSpc>
              <a:defRPr sz="2100">
                <a:solidFill>
                  <a:srgbClr val="75798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Felienne Hermans, </a:t>
            </a:r>
            <a:r>
              <a:rPr i="1"/>
              <a:t>The Programmer's Brain</a:t>
            </a:r>
            <a:r>
              <a:t>, 2021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 txBox="1"/>
          <p:nvPr/>
        </p:nvSpPr>
        <p:spPr>
          <a:xfrm>
            <a:off x="758003" y="1501934"/>
            <a:ext cx="14898922" cy="158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722376">
              <a:lnSpc>
                <a:spcPct val="70434"/>
              </a:lnSpc>
              <a:defRPr spc="-395" sz="10665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context window problem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 txBox="1"/>
          <p:nvPr/>
        </p:nvSpPr>
        <p:spPr>
          <a:xfrm>
            <a:off x="1333500" y="3436739"/>
            <a:ext cx="15304770" cy="1592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94153"/>
              </a:lnSpc>
              <a:defRPr spc="-200" sz="5100">
                <a:solidFill>
                  <a:srgbClr val="9397A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probabilistic tool is a bad way to produce something you have to trust.</a:t>
            </a:r>
          </a:p>
        </p:txBody>
      </p:sp>
      <p:sp>
        <p:nvSpPr>
          <p:cNvPr id="265" name="Text 1"/>
          <p:cNvSpPr txBox="1"/>
          <p:nvPr/>
        </p:nvSpPr>
        <p:spPr>
          <a:xfrm>
            <a:off x="1333500" y="5486400"/>
            <a:ext cx="15304770" cy="1592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>
              <a:lnSpc>
                <a:spcPct val="94153"/>
              </a:lnSpc>
              <a:defRPr spc="-200" sz="51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It is a very good way to produce </a:t>
            </a:r>
            <a:r>
              <a:rPr>
                <a:solidFill>
                  <a:srgbClr val="9184D9"/>
                </a:solidFill>
              </a:rPr>
              <a:t>a candidate you are going to check 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 0"/>
          <p:cNvSpPr txBox="1"/>
          <p:nvPr/>
        </p:nvSpPr>
        <p:spPr>
          <a:xfrm>
            <a:off x="1333500" y="3433464"/>
            <a:ext cx="14716125" cy="2541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3306"/>
              </a:lnSpc>
              <a:defRPr spc="-300" sz="9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Planning for the remodel is greenlit.</a:t>
            </a:r>
          </a:p>
        </p:txBody>
      </p:sp>
      <p:sp>
        <p:nvSpPr>
          <p:cNvPr id="270" name="Text 1"/>
          <p:cNvSpPr txBox="1"/>
          <p:nvPr/>
        </p:nvSpPr>
        <p:spPr>
          <a:xfrm>
            <a:off x="1333500" y="6394548"/>
            <a:ext cx="1362075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B2B6C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 a clear path to testing and approving what replaces it.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 txBox="1"/>
          <p:nvPr/>
        </p:nvSpPr>
        <p:spPr>
          <a:xfrm>
            <a:off x="1333500" y="3433464"/>
            <a:ext cx="14716125" cy="2541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92563"/>
              </a:lnSpc>
              <a:defRPr spc="-400" sz="93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Workflow Demo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 txBox="1"/>
          <p:nvPr/>
        </p:nvSpPr>
        <p:spPr>
          <a:xfrm>
            <a:off x="1333500" y="3179415"/>
            <a:ext cx="17183100" cy="451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625"/>
              </a:lnSpc>
              <a:defRPr spc="200" sz="2100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CHARACTERIZATION TESTS</a:t>
            </a:r>
          </a:p>
        </p:txBody>
      </p:sp>
      <p:sp>
        <p:nvSpPr>
          <p:cNvPr id="279" name="Text 1"/>
          <p:cNvSpPr txBox="1"/>
          <p:nvPr/>
        </p:nvSpPr>
        <p:spPr>
          <a:xfrm>
            <a:off x="1333500" y="3973710"/>
            <a:ext cx="16344900" cy="688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94597"/>
              </a:lnSpc>
              <a:defRPr spc="-100" sz="42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They pin current behavior as-is.</a:t>
            </a:r>
          </a:p>
        </p:txBody>
      </p:sp>
      <p:sp>
        <p:nvSpPr>
          <p:cNvPr id="280" name="Text 2"/>
          <p:cNvSpPr txBox="1"/>
          <p:nvPr/>
        </p:nvSpPr>
        <p:spPr>
          <a:xfrm>
            <a:off x="1333500" y="4910137"/>
            <a:ext cx="16344900" cy="688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94597"/>
              </a:lnSpc>
              <a:defRPr spc="-100" sz="4200">
                <a:solidFill>
                  <a:srgbClr val="B2B6C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They make no claim that it is correct.</a:t>
            </a:r>
          </a:p>
        </p:txBody>
      </p:sp>
      <p:sp>
        <p:nvSpPr>
          <p:cNvPr id="281" name="Text 3"/>
          <p:cNvSpPr txBox="1"/>
          <p:nvPr/>
        </p:nvSpPr>
        <p:spPr>
          <a:xfrm>
            <a:off x="1333500" y="5998964"/>
            <a:ext cx="13735050" cy="1337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22759"/>
              </a:lnSpc>
              <a:defRPr sz="3300">
                <a:solidFill>
                  <a:srgbClr val="9397A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 their own they pin everything equally. The edges tell you which of it counts.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0"/>
          <p:cNvSpPr txBox="1"/>
          <p:nvPr/>
        </p:nvSpPr>
        <p:spPr>
          <a:xfrm>
            <a:off x="1333500" y="3746003"/>
            <a:ext cx="15500986" cy="16883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640079">
              <a:lnSpc>
                <a:spcPct val="89627"/>
              </a:lnSpc>
              <a:defRPr spc="-140" sz="3989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Find the edges. Generate characterization tests at the edges. Generate  and evaluate the spec from the characterization tests, and finally make the change.</a:t>
            </a:r>
          </a:p>
        </p:txBody>
      </p:sp>
      <p:sp>
        <p:nvSpPr>
          <p:cNvPr id="286" name="Text 1"/>
          <p:cNvSpPr txBox="1"/>
          <p:nvPr/>
        </p:nvSpPr>
        <p:spPr>
          <a:xfrm>
            <a:off x="1333500" y="6082010"/>
            <a:ext cx="17183100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6400"/>
              </a:lnSpc>
              <a:defRPr sz="3300">
                <a:solidFill>
                  <a:srgbClr val="B2B6C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Module · whole app · interconnected systems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hyrumslaw.com"/>
          <p:cNvSpPr txBox="1"/>
          <p:nvPr/>
        </p:nvSpPr>
        <p:spPr>
          <a:xfrm>
            <a:off x="8363937" y="4976956"/>
            <a:ext cx="156012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hyrumslaw.com</a:t>
            </a:r>
          </a:p>
        </p:txBody>
      </p:sp>
      <p:sp>
        <p:nvSpPr>
          <p:cNvPr id="291" name="hyrumslaw.com"/>
          <p:cNvSpPr txBox="1"/>
          <p:nvPr/>
        </p:nvSpPr>
        <p:spPr>
          <a:xfrm>
            <a:off x="5762657" y="2929858"/>
            <a:ext cx="156012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hyrumslaw.com</a:t>
            </a:r>
          </a:p>
        </p:txBody>
      </p:sp>
      <p:pic>
        <p:nvPicPr>
          <p:cNvPr id="29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34156" y="564895"/>
            <a:ext cx="7266045" cy="9157210"/>
          </a:xfrm>
          <a:prstGeom prst="rect">
            <a:avLst/>
          </a:prstGeom>
          <a:ln w="12700">
            <a:miter lim="400000"/>
          </a:ln>
        </p:spPr>
      </p:pic>
      <p:sp>
        <p:nvSpPr>
          <p:cNvPr id="293" name="Text 1"/>
          <p:cNvSpPr txBox="1"/>
          <p:nvPr/>
        </p:nvSpPr>
        <p:spPr>
          <a:xfrm>
            <a:off x="523541" y="9339735"/>
            <a:ext cx="6345167" cy="6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502920">
              <a:lnSpc>
                <a:spcPct val="136400"/>
              </a:lnSpc>
              <a:defRPr sz="1815">
                <a:solidFill>
                  <a:srgbClr val="B2B6C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G. K. Chesterton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1"/>
          <p:cNvSpPr txBox="1"/>
          <p:nvPr/>
        </p:nvSpPr>
        <p:spPr>
          <a:xfrm>
            <a:off x="1369695" y="1389012"/>
            <a:ext cx="15548611" cy="7156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>
              <a:defRPr sz="4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“There exists in such a case a certain institution or law; let us say, for the sake of simplicity, a fence or gate erected across a road. The more modern type of reformer goes gaily up to it and says, ‘I don't see the use of this; let us clear it away.’ To which the more intelligent type of reformer will do well to answer: ‘If you don't see the use of it, I certainly won't let you clear it away. Go away and think. Then, when you can come back and tell me that you do see the use of it, I may allow you to destroy it.’”</a:t>
            </a:r>
          </a:p>
          <a:p>
            <a:pPr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G. K. Chesterton, </a:t>
            </a:r>
            <a:r>
              <a:rPr i="1"/>
              <a:t>The Thing</a:t>
            </a:r>
            <a:r>
              <a:t>, 1929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 0"/>
          <p:cNvSpPr txBox="1"/>
          <p:nvPr/>
        </p:nvSpPr>
        <p:spPr>
          <a:xfrm>
            <a:off x="1333500" y="3914030"/>
            <a:ext cx="14716125" cy="268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06575"/>
              </a:lnSpc>
              <a:defRPr spc="-200" sz="57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“We weren't 100% confident in how we were going to test and approve the new version.”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 0"/>
          <p:cNvSpPr txBox="1"/>
          <p:nvPr/>
        </p:nvSpPr>
        <p:spPr>
          <a:xfrm>
            <a:off x="1333500" y="3488382"/>
            <a:ext cx="1718310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04672">
              <a:lnSpc>
                <a:spcPct val="77837"/>
              </a:lnSpc>
              <a:defRPr spc="-88" sz="4224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legacy system specification</a:t>
            </a:r>
          </a:p>
        </p:txBody>
      </p:sp>
      <p:sp>
        <p:nvSpPr>
          <p:cNvPr id="306" name="Text 1"/>
          <p:cNvSpPr txBox="1"/>
          <p:nvPr/>
        </p:nvSpPr>
        <p:spPr>
          <a:xfrm>
            <a:off x="1333500" y="4555182"/>
            <a:ext cx="15304770" cy="1403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10277"/>
              </a:lnSpc>
              <a:defRPr spc="-100" sz="4200">
                <a:solidFill>
                  <a:srgbClr val="E9E9E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must remain true at the edges no matter what else changes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35646" y="2776054"/>
            <a:ext cx="3583461" cy="3503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311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02344" y="2776669"/>
            <a:ext cx="3482588" cy="3502153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Text 1"/>
          <p:cNvSpPr txBox="1"/>
          <p:nvPr/>
        </p:nvSpPr>
        <p:spPr>
          <a:xfrm>
            <a:off x="7524950" y="1677538"/>
            <a:ext cx="3786563" cy="112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625"/>
              </a:lnSpc>
              <a:defRPr spc="200" sz="2100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Talk materials Github Repo</a:t>
            </a:r>
          </a:p>
        </p:txBody>
      </p:sp>
      <p:sp>
        <p:nvSpPr>
          <p:cNvPr id="313" name="Text 1"/>
          <p:cNvSpPr txBox="1"/>
          <p:nvPr/>
        </p:nvSpPr>
        <p:spPr>
          <a:xfrm>
            <a:off x="12783482" y="1732539"/>
            <a:ext cx="9337432" cy="1480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625"/>
              </a:lnSpc>
              <a:defRPr spc="200" sz="2400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Part-time consulting available</a:t>
            </a:r>
          </a:p>
        </p:txBody>
      </p:sp>
      <p:pic>
        <p:nvPicPr>
          <p:cNvPr id="314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49351" y="2559293"/>
            <a:ext cx="4019551" cy="3936905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ext 1"/>
          <p:cNvSpPr txBox="1"/>
          <p:nvPr/>
        </p:nvSpPr>
        <p:spPr>
          <a:xfrm>
            <a:off x="1365845" y="1677538"/>
            <a:ext cx="3786563" cy="1122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135625"/>
              </a:lnSpc>
              <a:defRPr spc="200" sz="2100">
                <a:solidFill>
                  <a:srgbClr val="9184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Provide Feedback on the talk</a:t>
            </a:r>
          </a:p>
        </p:txBody>
      </p:sp>
      <p:pic>
        <p:nvPicPr>
          <p:cNvPr id="316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247903" y="6930247"/>
            <a:ext cx="1958947" cy="186712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7" name="pasted-movie.png" descr="pasted-movi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4324472" y="7206638"/>
            <a:ext cx="1438334" cy="131434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8" name="pasted-movie.png" descr="pasted-movi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618601" y="7271273"/>
            <a:ext cx="3281051" cy="11850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